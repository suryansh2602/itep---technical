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7" r:id="rId1"/>
  </p:sldMasterIdLst>
  <p:sldIdLst>
    <p:sldId id="266" r:id="rId2"/>
    <p:sldId id="257" r:id="rId3"/>
    <p:sldId id="256" r:id="rId4"/>
    <p:sldId id="258" r:id="rId5"/>
    <p:sldId id="259" r:id="rId6"/>
    <p:sldId id="260" r:id="rId7"/>
    <p:sldId id="261" r:id="rId8"/>
    <p:sldId id="262" r:id="rId9"/>
    <p:sldId id="263" r:id="rId10"/>
    <p:sldId id="267" r:id="rId11"/>
    <p:sldId id="268" r:id="rId12"/>
    <p:sldId id="264"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A83704-ADEF-4331-8392-3561D6BA510B}" v="146" dt="2025-07-26T04:36:47.0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nsh Pushpkar" userId="041ba368821199f0" providerId="LiveId" clId="{C7A83704-ADEF-4331-8392-3561D6BA510B}"/>
    <pc:docChg chg="addSld modSld">
      <pc:chgData name="Suryansh Pushpkar" userId="041ba368821199f0" providerId="LiveId" clId="{C7A83704-ADEF-4331-8392-3561D6BA510B}" dt="2025-07-26T04:36:47.014" v="176" actId="20577"/>
      <pc:docMkLst>
        <pc:docMk/>
      </pc:docMkLst>
      <pc:sldChg chg="modSp add mod">
        <pc:chgData name="Suryansh Pushpkar" userId="041ba368821199f0" providerId="LiveId" clId="{C7A83704-ADEF-4331-8392-3561D6BA510B}" dt="2025-07-26T04:33:21.363" v="86" actId="313"/>
        <pc:sldMkLst>
          <pc:docMk/>
          <pc:sldMk cId="2818319094" sldId="267"/>
        </pc:sldMkLst>
        <pc:spChg chg="mod">
          <ac:chgData name="Suryansh Pushpkar" userId="041ba368821199f0" providerId="LiveId" clId="{C7A83704-ADEF-4331-8392-3561D6BA510B}" dt="2025-07-26T04:33:21.363" v="86" actId="313"/>
          <ac:spMkLst>
            <pc:docMk/>
            <pc:sldMk cId="2818319094" sldId="267"/>
            <ac:spMk id="2" creationId="{8B901D48-E394-3A03-DB72-454B6326A4C8}"/>
          </ac:spMkLst>
        </pc:spChg>
        <pc:spChg chg="mod">
          <ac:chgData name="Suryansh Pushpkar" userId="041ba368821199f0" providerId="LiveId" clId="{C7A83704-ADEF-4331-8392-3561D6BA510B}" dt="2025-07-26T04:29:10.650" v="10" actId="20577"/>
          <ac:spMkLst>
            <pc:docMk/>
            <pc:sldMk cId="2818319094" sldId="267"/>
            <ac:spMk id="4" creationId="{4FA7CA05-8CBA-8856-0E58-9125A1582ACA}"/>
          </ac:spMkLst>
        </pc:spChg>
        <pc:spChg chg="mod">
          <ac:chgData name="Suryansh Pushpkar" userId="041ba368821199f0" providerId="LiveId" clId="{C7A83704-ADEF-4331-8392-3561D6BA510B}" dt="2025-07-26T04:29:27.458" v="31" actId="20577"/>
          <ac:spMkLst>
            <pc:docMk/>
            <pc:sldMk cId="2818319094" sldId="267"/>
            <ac:spMk id="5" creationId="{D2F49884-66EE-73F5-8F3D-4C5227C29991}"/>
          </ac:spMkLst>
        </pc:spChg>
        <pc:spChg chg="mod">
          <ac:chgData name="Suryansh Pushpkar" userId="041ba368821199f0" providerId="LiveId" clId="{C7A83704-ADEF-4331-8392-3561D6BA510B}" dt="2025-07-26T04:29:42.841" v="42" actId="404"/>
          <ac:spMkLst>
            <pc:docMk/>
            <pc:sldMk cId="2818319094" sldId="267"/>
            <ac:spMk id="6" creationId="{1429F4B0-4A30-4937-563D-69930627FE15}"/>
          </ac:spMkLst>
        </pc:spChg>
        <pc:spChg chg="mod">
          <ac:chgData name="Suryansh Pushpkar" userId="041ba368821199f0" providerId="LiveId" clId="{C7A83704-ADEF-4331-8392-3561D6BA510B}" dt="2025-07-26T04:32:50.901" v="58" actId="20577"/>
          <ac:spMkLst>
            <pc:docMk/>
            <pc:sldMk cId="2818319094" sldId="267"/>
            <ac:spMk id="11" creationId="{CB929AD8-BF2D-5D8D-D04B-0696AB0389A7}"/>
          </ac:spMkLst>
        </pc:spChg>
        <pc:spChg chg="mod">
          <ac:chgData name="Suryansh Pushpkar" userId="041ba368821199f0" providerId="LiveId" clId="{C7A83704-ADEF-4331-8392-3561D6BA510B}" dt="2025-07-26T04:33:14.542" v="82" actId="313"/>
          <ac:spMkLst>
            <pc:docMk/>
            <pc:sldMk cId="2818319094" sldId="267"/>
            <ac:spMk id="12" creationId="{D89F2BF2-FF20-D2BD-DF31-081D95FAA502}"/>
          </ac:spMkLst>
        </pc:spChg>
        <pc:spChg chg="mod">
          <ac:chgData name="Suryansh Pushpkar" userId="041ba368821199f0" providerId="LiveId" clId="{C7A83704-ADEF-4331-8392-3561D6BA510B}" dt="2025-07-26T04:29:54.595" v="52" actId="20577"/>
          <ac:spMkLst>
            <pc:docMk/>
            <pc:sldMk cId="2818319094" sldId="267"/>
            <ac:spMk id="13" creationId="{B4A9996E-3D7D-7401-C3F6-57C33EAF8B66}"/>
          </ac:spMkLst>
        </pc:spChg>
      </pc:sldChg>
      <pc:sldChg chg="modSp add">
        <pc:chgData name="Suryansh Pushpkar" userId="041ba368821199f0" providerId="LiveId" clId="{C7A83704-ADEF-4331-8392-3561D6BA510B}" dt="2025-07-26T04:36:47.014" v="176" actId="20577"/>
        <pc:sldMkLst>
          <pc:docMk/>
          <pc:sldMk cId="1774797696" sldId="268"/>
        </pc:sldMkLst>
        <pc:spChg chg="mod">
          <ac:chgData name="Suryansh Pushpkar" userId="041ba368821199f0" providerId="LiveId" clId="{C7A83704-ADEF-4331-8392-3561D6BA510B}" dt="2025-07-26T04:36:33.940" v="170" actId="20577"/>
          <ac:spMkLst>
            <pc:docMk/>
            <pc:sldMk cId="1774797696" sldId="268"/>
            <ac:spMk id="2" creationId="{E193E334-2D6B-B063-543C-DB8F59001089}"/>
          </ac:spMkLst>
        </pc:spChg>
        <pc:spChg chg="mod">
          <ac:chgData name="Suryansh Pushpkar" userId="041ba368821199f0" providerId="LiveId" clId="{C7A83704-ADEF-4331-8392-3561D6BA510B}" dt="2025-07-26T04:33:55.567" v="94" actId="20577"/>
          <ac:spMkLst>
            <pc:docMk/>
            <pc:sldMk cId="1774797696" sldId="268"/>
            <ac:spMk id="6" creationId="{5AF2508E-C027-B4A0-0290-8D56DF97ABFB}"/>
          </ac:spMkLst>
        </pc:spChg>
        <pc:spChg chg="mod">
          <ac:chgData name="Suryansh Pushpkar" userId="041ba368821199f0" providerId="LiveId" clId="{C7A83704-ADEF-4331-8392-3561D6BA510B}" dt="2025-07-26T04:35:42.783" v="120" actId="20577"/>
          <ac:spMkLst>
            <pc:docMk/>
            <pc:sldMk cId="1774797696" sldId="268"/>
            <ac:spMk id="11" creationId="{1F3AEA2A-66F5-5C0A-9E57-6E0F76FF58AE}"/>
          </ac:spMkLst>
        </pc:spChg>
        <pc:spChg chg="mod">
          <ac:chgData name="Suryansh Pushpkar" userId="041ba368821199f0" providerId="LiveId" clId="{C7A83704-ADEF-4331-8392-3561D6BA510B}" dt="2025-07-26T04:36:47.014" v="176" actId="20577"/>
          <ac:spMkLst>
            <pc:docMk/>
            <pc:sldMk cId="1774797696" sldId="268"/>
            <ac:spMk id="12" creationId="{49565CD3-E327-3B56-AF81-6C228AECF3D0}"/>
          </ac:spMkLst>
        </pc:spChg>
        <pc:spChg chg="mod">
          <ac:chgData name="Suryansh Pushpkar" userId="041ba368821199f0" providerId="LiveId" clId="{C7A83704-ADEF-4331-8392-3561D6BA510B}" dt="2025-07-26T04:34:07.500" v="117" actId="20577"/>
          <ac:spMkLst>
            <pc:docMk/>
            <pc:sldMk cId="1774797696" sldId="268"/>
            <ac:spMk id="13" creationId="{C1ACC9F8-F3F7-40B7-C6F9-DB6F5F945838}"/>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5T14:15:17.699"/>
    </inkml:context>
    <inkml:brush xml:id="br0">
      <inkml:brushProperty name="width" value="0.05" units="cm"/>
      <inkml:brushProperty name="height" value="0.05" units="cm"/>
      <inkml:brushProperty name="color" value="#AE198D"/>
      <inkml:brushProperty name="inkEffects" value="galaxy"/>
      <inkml:brushProperty name="anchorX" value="-16714.91602"/>
      <inkml:brushProperty name="anchorY" value="-669.63324"/>
      <inkml:brushProperty name="scaleFactor" value="0.5"/>
    </inkml:brush>
  </inkml:definitions>
  <inkml:trace contextRef="#ctx0" brushRef="#br0">0 6 24575,'0'0'0,"0"-5"0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78EFC7-BE22-4BF1-AC9D-75F46B0F4B6C}" type="datetimeFigureOut">
              <a:rPr lang="en-IN" smtClean="0"/>
              <a:t>26-07-2025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2B85D8-D87F-4B91-B6C5-6790BCFDD7FB}"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7386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78EFC7-BE22-4BF1-AC9D-75F46B0F4B6C}" type="datetimeFigureOut">
              <a:rPr lang="en-IN" smtClean="0"/>
              <a:t>26-07-2025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4208885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78EFC7-BE22-4BF1-AC9D-75F46B0F4B6C}" type="datetimeFigureOut">
              <a:rPr lang="en-IN" smtClean="0"/>
              <a:t>26-07-2025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3429031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78EFC7-BE22-4BF1-AC9D-75F46B0F4B6C}" type="datetimeFigureOut">
              <a:rPr lang="en-IN" smtClean="0"/>
              <a:t>26-07-2025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38677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78EFC7-BE22-4BF1-AC9D-75F46B0F4B6C}" type="datetimeFigureOut">
              <a:rPr lang="en-IN" smtClean="0"/>
              <a:t>26-07-2025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1061370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78EFC7-BE22-4BF1-AC9D-75F46B0F4B6C}" type="datetimeFigureOut">
              <a:rPr lang="en-IN" smtClean="0"/>
              <a:t>26-07-2025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4169918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78EFC7-BE22-4BF1-AC9D-75F46B0F4B6C}" type="datetimeFigureOut">
              <a:rPr lang="en-IN" smtClean="0"/>
              <a:t>26-07-2025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3906561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78EFC7-BE22-4BF1-AC9D-75F46B0F4B6C}" type="datetimeFigureOut">
              <a:rPr lang="en-IN" smtClean="0"/>
              <a:t>26-07-2025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1117929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78EFC7-BE22-4BF1-AC9D-75F46B0F4B6C}" type="datetimeFigureOut">
              <a:rPr lang="en-IN" smtClean="0"/>
              <a:t>26-07-2025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1880270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A178EFC7-BE22-4BF1-AC9D-75F46B0F4B6C}" type="datetimeFigureOut">
              <a:rPr lang="en-IN" smtClean="0"/>
              <a:t>26-07-2025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3680271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78EFC7-BE22-4BF1-AC9D-75F46B0F4B6C}" type="datetimeFigureOut">
              <a:rPr lang="en-IN" smtClean="0"/>
              <a:t>26-07-2025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2938964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78EFC7-BE22-4BF1-AC9D-75F46B0F4B6C}" type="datetimeFigureOut">
              <a:rPr lang="en-IN" smtClean="0"/>
              <a:t>26-07-2025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2B85D8-D87F-4B91-B6C5-6790BCFDD7FB}"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499448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78EFC7-BE22-4BF1-AC9D-75F46B0F4B6C}" type="datetimeFigureOut">
              <a:rPr lang="en-IN" smtClean="0"/>
              <a:t>26-07-2025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34670601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78EFC7-BE22-4BF1-AC9D-75F46B0F4B6C}" type="datetimeFigureOut">
              <a:rPr lang="en-IN" smtClean="0"/>
              <a:t>26-07-2025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2B85D8-D87F-4B91-B6C5-6790BCFDD7FB}"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9390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78EFC7-BE22-4BF1-AC9D-75F46B0F4B6C}" type="datetimeFigureOut">
              <a:rPr lang="en-IN" smtClean="0"/>
              <a:t>26-07-2025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35302889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78EFC7-BE22-4BF1-AC9D-75F46B0F4B6C}" type="datetimeFigureOut">
              <a:rPr lang="en-IN" smtClean="0"/>
              <a:t>26-07-2025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3847956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78EFC7-BE22-4BF1-AC9D-75F46B0F4B6C}" type="datetimeFigureOut">
              <a:rPr lang="en-IN" smtClean="0"/>
              <a:t>26-07-2025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2B85D8-D87F-4B91-B6C5-6790BCFDD7FB}" type="slidenum">
              <a:rPr lang="en-IN" smtClean="0"/>
              <a:t>‹#›</a:t>
            </a:fld>
            <a:endParaRPr lang="en-IN"/>
          </a:p>
        </p:txBody>
      </p:sp>
    </p:spTree>
    <p:extLst>
      <p:ext uri="{BB962C8B-B14F-4D97-AF65-F5344CB8AC3E}">
        <p14:creationId xmlns:p14="http://schemas.microsoft.com/office/powerpoint/2010/main" val="3883067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A178EFC7-BE22-4BF1-AC9D-75F46B0F4B6C}" type="datetimeFigureOut">
              <a:rPr lang="en-IN" smtClean="0"/>
              <a:t>26-07-2025</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282B85D8-D87F-4B91-B6C5-6790BCFDD7FB}" type="slidenum">
              <a:rPr lang="en-IN" smtClean="0"/>
              <a:t>‹#›</a:t>
            </a:fld>
            <a:endParaRPr lang="en-IN"/>
          </a:p>
        </p:txBody>
      </p:sp>
    </p:spTree>
    <p:extLst>
      <p:ext uri="{BB962C8B-B14F-4D97-AF65-F5344CB8AC3E}">
        <p14:creationId xmlns:p14="http://schemas.microsoft.com/office/powerpoint/2010/main" val="1647299833"/>
      </p:ext>
    </p:extLst>
  </p:cSld>
  <p:clrMap bg1="dk1" tx1="lt1" bg2="dk2" tx2="lt2" accent1="accent1" accent2="accent2" accent3="accent3" accent4="accent4" accent5="accent5" accent6="accent6" hlink="hlink" folHlink="folHlink"/>
  <p:sldLayoutIdLst>
    <p:sldLayoutId id="2147484188" r:id="rId1"/>
    <p:sldLayoutId id="2147484189" r:id="rId2"/>
    <p:sldLayoutId id="2147484190" r:id="rId3"/>
    <p:sldLayoutId id="2147484191" r:id="rId4"/>
    <p:sldLayoutId id="2147484192" r:id="rId5"/>
    <p:sldLayoutId id="2147484193" r:id="rId6"/>
    <p:sldLayoutId id="2147484194" r:id="rId7"/>
    <p:sldLayoutId id="2147484195" r:id="rId8"/>
    <p:sldLayoutId id="2147484196" r:id="rId9"/>
    <p:sldLayoutId id="2147484197" r:id="rId10"/>
    <p:sldLayoutId id="2147484198" r:id="rId11"/>
    <p:sldLayoutId id="2147484199" r:id="rId12"/>
    <p:sldLayoutId id="2147484200" r:id="rId13"/>
    <p:sldLayoutId id="2147484201" r:id="rId14"/>
    <p:sldLayoutId id="2147484202" r:id="rId15"/>
    <p:sldLayoutId id="2147484203" r:id="rId16"/>
    <p:sldLayoutId id="2147484204"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6.xml"/><Relationship Id="rId4" Type="http://schemas.openxmlformats.org/officeDocument/2006/relationships/hyperlink" Target="https://weibeld.net/java/"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Java_(programming_language)" TargetMode="External"/><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hyperlink" Target="https://creativecommons.org/licenses/by-sa/3.0/"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codeandwork.github.io/courses/java/objects.html"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91A8588-1CFB-6125-A05B-1E121973A082}"/>
              </a:ext>
            </a:extLst>
          </p:cNvPr>
          <p:cNvSpPr/>
          <p:nvPr/>
        </p:nvSpPr>
        <p:spPr>
          <a:xfrm>
            <a:off x="3093564" y="1257804"/>
            <a:ext cx="5666937" cy="1323439"/>
          </a:xfrm>
          <a:prstGeom prst="rect">
            <a:avLst/>
          </a:prstGeom>
          <a:noFill/>
        </p:spPr>
        <p:txBody>
          <a:bodyPr wrap="none" lIns="91440" tIns="45720" rIns="91440" bIns="45720">
            <a:spAutoFit/>
          </a:bodyPr>
          <a:lstStyle/>
          <a:p>
            <a:pPr algn="ctr"/>
            <a:r>
              <a:rPr lang="en-US" sz="8000" b="1" u="sng"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Data Types</a:t>
            </a:r>
            <a:endParaRPr lang="en-US" sz="8000" b="1" u="sng"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pic>
        <p:nvPicPr>
          <p:cNvPr id="7" name="Picture 6" descr="Abstract background of node and mesh">
            <a:extLst>
              <a:ext uri="{FF2B5EF4-FFF2-40B4-BE49-F238E27FC236}">
                <a16:creationId xmlns:a16="http://schemas.microsoft.com/office/drawing/2014/main" id="{EE3C88A4-B506-9A07-3462-6336995099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04" y="0"/>
            <a:ext cx="12294704" cy="6858000"/>
          </a:xfrm>
          <a:prstGeom prst="rect">
            <a:avLst/>
          </a:prstGeom>
        </p:spPr>
      </p:pic>
      <p:sp>
        <p:nvSpPr>
          <p:cNvPr id="8" name="Rectangle 7">
            <a:extLst>
              <a:ext uri="{FF2B5EF4-FFF2-40B4-BE49-F238E27FC236}">
                <a16:creationId xmlns:a16="http://schemas.microsoft.com/office/drawing/2014/main" id="{8CFE14E9-3C6D-06CD-5392-D69490D7A4F2}"/>
              </a:ext>
            </a:extLst>
          </p:cNvPr>
          <p:cNvSpPr/>
          <p:nvPr/>
        </p:nvSpPr>
        <p:spPr>
          <a:xfrm>
            <a:off x="2546141" y="557603"/>
            <a:ext cx="6761787" cy="1569660"/>
          </a:xfrm>
          <a:prstGeom prst="rect">
            <a:avLst/>
          </a:prstGeom>
          <a:noFill/>
        </p:spPr>
        <p:txBody>
          <a:bodyPr wrap="none" lIns="91440" tIns="45720" rIns="91440" bIns="45720">
            <a:spAutoFit/>
          </a:bodyPr>
          <a:lstStyle/>
          <a:p>
            <a:pPr algn="ctr"/>
            <a:r>
              <a:rPr lang="en-US" sz="9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Data Types</a:t>
            </a:r>
            <a:endParaRPr lang="en-US" sz="9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9" name="Rectangle 8">
            <a:extLst>
              <a:ext uri="{FF2B5EF4-FFF2-40B4-BE49-F238E27FC236}">
                <a16:creationId xmlns:a16="http://schemas.microsoft.com/office/drawing/2014/main" id="{2B5A4E11-9071-E144-2E63-5A3EC9DBAEA5}"/>
              </a:ext>
            </a:extLst>
          </p:cNvPr>
          <p:cNvSpPr/>
          <p:nvPr/>
        </p:nvSpPr>
        <p:spPr>
          <a:xfrm>
            <a:off x="4309024" y="2300145"/>
            <a:ext cx="2985912" cy="769441"/>
          </a:xfrm>
          <a:prstGeom prst="rect">
            <a:avLst/>
          </a:prstGeom>
          <a:noFill/>
        </p:spPr>
        <p:txBody>
          <a:bodyPr wrap="square" lIns="91440" tIns="45720" rIns="91440" bIns="45720">
            <a:spAutoFit/>
          </a:bodyPr>
          <a:lstStyle/>
          <a:p>
            <a:pPr algn="ctr"/>
            <a:r>
              <a:rPr lang="en-US" sz="4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In java</a:t>
            </a:r>
          </a:p>
        </p:txBody>
      </p:sp>
      <p:pic>
        <p:nvPicPr>
          <p:cNvPr id="11" name="Picture 10" descr="A blue and red logo&#10;&#10;AI-generated content may be incorrect.">
            <a:extLst>
              <a:ext uri="{FF2B5EF4-FFF2-40B4-BE49-F238E27FC236}">
                <a16:creationId xmlns:a16="http://schemas.microsoft.com/office/drawing/2014/main" id="{D937E8F3-922B-471F-50FE-72E0884D19A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257767" y="3211971"/>
            <a:ext cx="3088426" cy="3088426"/>
          </a:xfrm>
          <a:prstGeom prst="rect">
            <a:avLst/>
          </a:prstGeom>
        </p:spPr>
      </p:pic>
    </p:spTree>
    <p:extLst>
      <p:ext uri="{BB962C8B-B14F-4D97-AF65-F5344CB8AC3E}">
        <p14:creationId xmlns:p14="http://schemas.microsoft.com/office/powerpoint/2010/main" val="4101517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logo with a blue and orange design&#10;&#10;AI-generated content may be incorrect.">
            <a:extLst>
              <a:ext uri="{FF2B5EF4-FFF2-40B4-BE49-F238E27FC236}">
                <a16:creationId xmlns:a16="http://schemas.microsoft.com/office/drawing/2014/main" id="{CEBD674D-8D56-2E34-07E5-7FC1AFF7AC5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95597" y="367747"/>
            <a:ext cx="3068244" cy="45421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5" name="TextBox 14">
            <a:extLst>
              <a:ext uri="{FF2B5EF4-FFF2-40B4-BE49-F238E27FC236}">
                <a16:creationId xmlns:a16="http://schemas.microsoft.com/office/drawing/2014/main" id="{BD0A5A14-0352-A858-9539-1C145103B0A5}"/>
              </a:ext>
            </a:extLst>
          </p:cNvPr>
          <p:cNvSpPr txBox="1"/>
          <p:nvPr/>
        </p:nvSpPr>
        <p:spPr>
          <a:xfrm>
            <a:off x="5200096" y="6825922"/>
            <a:ext cx="1548572" cy="507831"/>
          </a:xfrm>
          <a:prstGeom prst="rect">
            <a:avLst/>
          </a:prstGeom>
          <a:noFill/>
        </p:spPr>
        <p:txBody>
          <a:bodyPr wrap="square" rtlCol="0">
            <a:spAutoFit/>
          </a:bodyPr>
          <a:lstStyle/>
          <a:p>
            <a:r>
              <a:rPr lang="en-IN" sz="900">
                <a:hlinkClick r:id="rId3" tooltip="https://en.wikipedia.org/wiki/Java_(programming_language)"/>
              </a:rPr>
              <a:t>This Photo</a:t>
            </a:r>
            <a:r>
              <a:rPr lang="en-IN" sz="900"/>
              <a:t> by Unknown Author is licensed under </a:t>
            </a:r>
            <a:r>
              <a:rPr lang="en-IN" sz="900">
                <a:hlinkClick r:id="rId4" tooltip="https://creativecommons.org/licenses/by-sa/3.0/"/>
              </a:rPr>
              <a:t>CC BY-SA</a:t>
            </a:r>
            <a:endParaRPr lang="en-IN" sz="900"/>
          </a:p>
        </p:txBody>
      </p:sp>
      <p:sp>
        <p:nvSpPr>
          <p:cNvPr id="8" name="Rectangle 7">
            <a:extLst>
              <a:ext uri="{FF2B5EF4-FFF2-40B4-BE49-F238E27FC236}">
                <a16:creationId xmlns:a16="http://schemas.microsoft.com/office/drawing/2014/main" id="{F2F9AD34-04B2-1DAB-C385-1201DC3EB023}"/>
              </a:ext>
            </a:extLst>
          </p:cNvPr>
          <p:cNvSpPr/>
          <p:nvPr/>
        </p:nvSpPr>
        <p:spPr>
          <a:xfrm>
            <a:off x="3828495" y="248478"/>
            <a:ext cx="6333786"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Data Types in java</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9" name="Rectangle 8">
            <a:extLst>
              <a:ext uri="{FF2B5EF4-FFF2-40B4-BE49-F238E27FC236}">
                <a16:creationId xmlns:a16="http://schemas.microsoft.com/office/drawing/2014/main" id="{DDC89470-304A-DB66-FD48-CAAC97F591AA}"/>
              </a:ext>
            </a:extLst>
          </p:cNvPr>
          <p:cNvSpPr/>
          <p:nvPr/>
        </p:nvSpPr>
        <p:spPr>
          <a:xfrm>
            <a:off x="9430475" y="6336700"/>
            <a:ext cx="2335896" cy="400110"/>
          </a:xfrm>
          <a:prstGeom prst="rect">
            <a:avLst/>
          </a:prstGeom>
          <a:noFill/>
        </p:spPr>
        <p:txBody>
          <a:bodyPr wrap="none" lIns="91440" tIns="45720" rIns="91440" bIns="45720">
            <a:spAutoFit/>
          </a:bodyPr>
          <a:lstStyle/>
          <a:p>
            <a:pPr algn="ctr"/>
            <a:r>
              <a:rPr lang="en-US" sz="2000" b="1" dirty="0">
                <a:ln w="9525">
                  <a:solidFill>
                    <a:schemeClr val="bg1"/>
                  </a:solidFill>
                  <a:prstDash val="solid"/>
                </a:ln>
                <a:effectLst>
                  <a:outerShdw blurRad="12700" dist="38100" dir="2700000" algn="tl" rotWithShape="0">
                    <a:schemeClr val="bg1">
                      <a:lumMod val="50000"/>
                    </a:schemeClr>
                  </a:outerShdw>
                </a:effectLst>
              </a:rPr>
              <a:t>By :- Tech Squad </a:t>
            </a:r>
            <a:endParaRPr lang="en-US" sz="2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10" name="TextBox 9">
            <a:extLst>
              <a:ext uri="{FF2B5EF4-FFF2-40B4-BE49-F238E27FC236}">
                <a16:creationId xmlns:a16="http://schemas.microsoft.com/office/drawing/2014/main" id="{CE48801F-767F-7625-C871-7C885B5B1F07}"/>
              </a:ext>
            </a:extLst>
          </p:cNvPr>
          <p:cNvSpPr txBox="1"/>
          <p:nvPr/>
        </p:nvSpPr>
        <p:spPr>
          <a:xfrm>
            <a:off x="3960264" y="1699592"/>
            <a:ext cx="6202017" cy="2862322"/>
          </a:xfrm>
          <a:prstGeom prst="rect">
            <a:avLst/>
          </a:prstGeom>
          <a:noFill/>
        </p:spPr>
        <p:txBody>
          <a:bodyPr wrap="square" rtlCol="0">
            <a:spAutoFit/>
          </a:bodyPr>
          <a:lstStyle/>
          <a:p>
            <a:r>
              <a:rPr lang="en-US" sz="3600" dirty="0">
                <a:solidFill>
                  <a:schemeClr val="tx1">
                    <a:lumMod val="95000"/>
                  </a:schemeClr>
                </a:solidFill>
              </a:rPr>
              <a:t>Data types in java, define the kind of data a variable can store, such as numbers, characters, or true/false values. </a:t>
            </a:r>
          </a:p>
        </p:txBody>
      </p:sp>
    </p:spTree>
    <p:extLst>
      <p:ext uri="{BB962C8B-B14F-4D97-AF65-F5344CB8AC3E}">
        <p14:creationId xmlns:p14="http://schemas.microsoft.com/office/powerpoint/2010/main" val="29548467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CD8E0-505C-008B-AE1E-FEFBB569015C}"/>
              </a:ext>
            </a:extLst>
          </p:cNvPr>
          <p:cNvSpPr>
            <a:spLocks noGrp="1"/>
          </p:cNvSpPr>
          <p:nvPr>
            <p:ph type="ctrTitle"/>
          </p:nvPr>
        </p:nvSpPr>
        <p:spPr>
          <a:xfrm>
            <a:off x="40722" y="3365975"/>
            <a:ext cx="8001000" cy="643317"/>
          </a:xfrm>
        </p:spPr>
        <p:txBody>
          <a:bodyPr>
            <a:normAutofit fontScale="90000"/>
          </a:bodyPr>
          <a:lstStyle/>
          <a:p>
            <a:r>
              <a:rPr lang="en-IN" sz="5400" dirty="0"/>
              <a:t> </a:t>
            </a:r>
          </a:p>
        </p:txBody>
      </p:sp>
      <p:pic>
        <p:nvPicPr>
          <p:cNvPr id="17" name="Picture 16" descr="A diagram of a data type&#10;&#10;AI-generated content may be incorrect.">
            <a:extLst>
              <a:ext uri="{FF2B5EF4-FFF2-40B4-BE49-F238E27FC236}">
                <a16:creationId xmlns:a16="http://schemas.microsoft.com/office/drawing/2014/main" id="{A3503682-CB50-1698-5424-0C9ED91B1C0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423702" y="355289"/>
            <a:ext cx="4523133" cy="389865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9" name="Rectangle 18">
            <a:extLst>
              <a:ext uri="{FF2B5EF4-FFF2-40B4-BE49-F238E27FC236}">
                <a16:creationId xmlns:a16="http://schemas.microsoft.com/office/drawing/2014/main" id="{523BDA39-3EBD-DB37-DEB3-7E7B8F0078DC}"/>
              </a:ext>
            </a:extLst>
          </p:cNvPr>
          <p:cNvSpPr/>
          <p:nvPr/>
        </p:nvSpPr>
        <p:spPr>
          <a:xfrm>
            <a:off x="117281" y="224135"/>
            <a:ext cx="6749347" cy="923330"/>
          </a:xfrm>
          <a:prstGeom prst="rect">
            <a:avLst/>
          </a:prstGeom>
          <a:noFill/>
        </p:spPr>
        <p:txBody>
          <a:bodyPr wrap="none" lIns="91440" tIns="45720" rIns="91440" bIns="45720">
            <a:spAutoFit/>
          </a:bodyPr>
          <a:lstStyle/>
          <a:p>
            <a:pPr algn="ctr"/>
            <a:r>
              <a:rPr lang="en-US" sz="54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Types of Data Type: </a:t>
            </a:r>
          </a:p>
        </p:txBody>
      </p:sp>
      <p:sp>
        <p:nvSpPr>
          <p:cNvPr id="20" name="Rectangle 19">
            <a:extLst>
              <a:ext uri="{FF2B5EF4-FFF2-40B4-BE49-F238E27FC236}">
                <a16:creationId xmlns:a16="http://schemas.microsoft.com/office/drawing/2014/main" id="{CF9083F2-C0C9-6AE0-76AE-9571D49788EB}"/>
              </a:ext>
            </a:extLst>
          </p:cNvPr>
          <p:cNvSpPr/>
          <p:nvPr/>
        </p:nvSpPr>
        <p:spPr>
          <a:xfrm>
            <a:off x="117281" y="1147465"/>
            <a:ext cx="3013545" cy="707886"/>
          </a:xfrm>
          <a:prstGeom prst="rect">
            <a:avLst/>
          </a:prstGeom>
          <a:noFill/>
        </p:spPr>
        <p:txBody>
          <a:bodyPr wrap="square" lIns="91440" tIns="45720" rIns="91440" bIns="45720">
            <a:spAutoFit/>
          </a:bodyPr>
          <a:lstStyle/>
          <a:p>
            <a:pPr algn="ctr"/>
            <a:r>
              <a:rPr lang="en-US" sz="4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Primitive : </a:t>
            </a:r>
          </a:p>
        </p:txBody>
      </p:sp>
      <p:sp>
        <p:nvSpPr>
          <p:cNvPr id="21" name="TextBox 20">
            <a:extLst>
              <a:ext uri="{FF2B5EF4-FFF2-40B4-BE49-F238E27FC236}">
                <a16:creationId xmlns:a16="http://schemas.microsoft.com/office/drawing/2014/main" id="{04AD10C1-75F8-0CBC-8B0B-033681DB4494}"/>
              </a:ext>
            </a:extLst>
          </p:cNvPr>
          <p:cNvSpPr txBox="1"/>
          <p:nvPr/>
        </p:nvSpPr>
        <p:spPr>
          <a:xfrm>
            <a:off x="297180" y="1901832"/>
            <a:ext cx="6004229" cy="923330"/>
          </a:xfrm>
          <a:prstGeom prst="rect">
            <a:avLst/>
          </a:prstGeom>
          <a:noFill/>
        </p:spPr>
        <p:txBody>
          <a:bodyPr wrap="square" rtlCol="0">
            <a:spAutoFit/>
          </a:bodyPr>
          <a:lstStyle/>
          <a:p>
            <a:r>
              <a:rPr lang="en-US" dirty="0"/>
              <a:t>A primitive data type in Java is a pre-defined, basic data type like int, char, float, or </a:t>
            </a:r>
            <a:r>
              <a:rPr lang="en-US" dirty="0" err="1"/>
              <a:t>boolean</a:t>
            </a:r>
            <a:r>
              <a:rPr lang="en-US" dirty="0"/>
              <a:t> that stores simple values directly.</a:t>
            </a:r>
            <a:endParaRPr lang="en-IN" dirty="0"/>
          </a:p>
        </p:txBody>
      </p:sp>
      <p:sp>
        <p:nvSpPr>
          <p:cNvPr id="22" name="Rectangle 21">
            <a:extLst>
              <a:ext uri="{FF2B5EF4-FFF2-40B4-BE49-F238E27FC236}">
                <a16:creationId xmlns:a16="http://schemas.microsoft.com/office/drawing/2014/main" id="{04ADD3DB-78DF-CD33-4AAB-DFC02FA69F60}"/>
              </a:ext>
            </a:extLst>
          </p:cNvPr>
          <p:cNvSpPr/>
          <p:nvPr/>
        </p:nvSpPr>
        <p:spPr>
          <a:xfrm>
            <a:off x="173831" y="3121319"/>
            <a:ext cx="3562194" cy="707886"/>
          </a:xfrm>
          <a:prstGeom prst="rect">
            <a:avLst/>
          </a:prstGeom>
          <a:noFill/>
        </p:spPr>
        <p:txBody>
          <a:bodyPr wrap="none" lIns="91440" tIns="45720" rIns="91440" bIns="45720">
            <a:spAutoFit/>
          </a:bodyPr>
          <a:lstStyle/>
          <a:p>
            <a:pPr algn="ctr"/>
            <a:r>
              <a:rPr lang="en-US" sz="4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Non-Primitive:</a:t>
            </a:r>
            <a:endParaRPr lang="en-IN" sz="4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23" name="TextBox 22">
            <a:extLst>
              <a:ext uri="{FF2B5EF4-FFF2-40B4-BE49-F238E27FC236}">
                <a16:creationId xmlns:a16="http://schemas.microsoft.com/office/drawing/2014/main" id="{F3FE01C3-7AC9-5A36-36B5-016F6D2E3EB1}"/>
              </a:ext>
            </a:extLst>
          </p:cNvPr>
          <p:cNvSpPr txBox="1"/>
          <p:nvPr/>
        </p:nvSpPr>
        <p:spPr>
          <a:xfrm>
            <a:off x="410522" y="4152079"/>
            <a:ext cx="5169342" cy="1200329"/>
          </a:xfrm>
          <a:prstGeom prst="rect">
            <a:avLst/>
          </a:prstGeom>
          <a:noFill/>
        </p:spPr>
        <p:txBody>
          <a:bodyPr wrap="square" rtlCol="0">
            <a:spAutoFit/>
          </a:bodyPr>
          <a:lstStyle/>
          <a:p>
            <a:r>
              <a:rPr lang="en-US"/>
              <a:t>Non-primitive data types in Java store references to complex objects rather than actual values. Examples include String, array, class, interface, and enum types.</a:t>
            </a:r>
            <a:endParaRPr lang="en-IN" dirty="0"/>
          </a:p>
        </p:txBody>
      </p:sp>
    </p:spTree>
    <p:extLst>
      <p:ext uri="{BB962C8B-B14F-4D97-AF65-F5344CB8AC3E}">
        <p14:creationId xmlns:p14="http://schemas.microsoft.com/office/powerpoint/2010/main" val="3441457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arn(inVertical)">
                                      <p:cBhvr>
                                        <p:cTn id="12" dur="500"/>
                                        <p:tgtEl>
                                          <p:spTgt spid="20"/>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barn(inVertical)">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1000"/>
                                        <p:tgtEl>
                                          <p:spTgt spid="21"/>
                                        </p:tgtEl>
                                      </p:cBhvr>
                                    </p:animEffect>
                                    <p:anim calcmode="lin" valueType="num">
                                      <p:cBhvr>
                                        <p:cTn id="21" dur="1000" fill="hold"/>
                                        <p:tgtEl>
                                          <p:spTgt spid="21"/>
                                        </p:tgtEl>
                                        <p:attrNameLst>
                                          <p:attrName>ppt_x</p:attrName>
                                        </p:attrNameLst>
                                      </p:cBhvr>
                                      <p:tavLst>
                                        <p:tav tm="0">
                                          <p:val>
                                            <p:strVal val="#ppt_x"/>
                                          </p:val>
                                        </p:tav>
                                        <p:tav tm="100000">
                                          <p:val>
                                            <p:strVal val="#ppt_x"/>
                                          </p:val>
                                        </p:tav>
                                      </p:tavLst>
                                    </p:anim>
                                    <p:anim calcmode="lin" valueType="num">
                                      <p:cBhvr>
                                        <p:cTn id="22" dur="1000" fill="hold"/>
                                        <p:tgtEl>
                                          <p:spTgt spid="21"/>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1000"/>
                                        <p:tgtEl>
                                          <p:spTgt spid="23"/>
                                        </p:tgtEl>
                                      </p:cBhvr>
                                    </p:animEffect>
                                    <p:anim calcmode="lin" valueType="num">
                                      <p:cBhvr>
                                        <p:cTn id="26" dur="1000" fill="hold"/>
                                        <p:tgtEl>
                                          <p:spTgt spid="23"/>
                                        </p:tgtEl>
                                        <p:attrNameLst>
                                          <p:attrName>ppt_x</p:attrName>
                                        </p:attrNameLst>
                                      </p:cBhvr>
                                      <p:tavLst>
                                        <p:tav tm="0">
                                          <p:val>
                                            <p:strVal val="#ppt_x"/>
                                          </p:val>
                                        </p:tav>
                                        <p:tav tm="100000">
                                          <p:val>
                                            <p:strVal val="#ppt_x"/>
                                          </p:val>
                                        </p:tav>
                                      </p:tavLst>
                                    </p:anim>
                                    <p:anim calcmode="lin" valueType="num">
                                      <p:cBhvr>
                                        <p:cTn id="2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randombar(horizontal)">
                                      <p:cBhvr>
                                        <p:cTn id="3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AD54736-7468-BD5C-ECE1-B5A65A5D42D0}"/>
              </a:ext>
            </a:extLst>
          </p:cNvPr>
          <p:cNvSpPr/>
          <p:nvPr/>
        </p:nvSpPr>
        <p:spPr>
          <a:xfrm>
            <a:off x="622995" y="214196"/>
            <a:ext cx="727474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Numeric : Data type</a:t>
            </a:r>
          </a:p>
        </p:txBody>
      </p:sp>
      <p:sp>
        <p:nvSpPr>
          <p:cNvPr id="5" name="TextBox 4">
            <a:extLst>
              <a:ext uri="{FF2B5EF4-FFF2-40B4-BE49-F238E27FC236}">
                <a16:creationId xmlns:a16="http://schemas.microsoft.com/office/drawing/2014/main" id="{F9319947-85CE-C810-E3CE-8764FF300C66}"/>
              </a:ext>
            </a:extLst>
          </p:cNvPr>
          <p:cNvSpPr txBox="1"/>
          <p:nvPr/>
        </p:nvSpPr>
        <p:spPr>
          <a:xfrm>
            <a:off x="881085" y="1158701"/>
            <a:ext cx="7364895" cy="461665"/>
          </a:xfrm>
          <a:prstGeom prst="rect">
            <a:avLst/>
          </a:prstGeom>
          <a:noFill/>
        </p:spPr>
        <p:txBody>
          <a:bodyPr wrap="square" rtlCol="0">
            <a:spAutoFit/>
          </a:bodyPr>
          <a:lstStyle/>
          <a:p>
            <a:r>
              <a:rPr lang="en-US" sz="2400" dirty="0">
                <a:solidFill>
                  <a:srgbClr val="FFFF00"/>
                </a:solidFill>
              </a:rPr>
              <a:t>Byte, short, int, long, float, double</a:t>
            </a:r>
          </a:p>
        </p:txBody>
      </p:sp>
      <p:sp>
        <p:nvSpPr>
          <p:cNvPr id="6" name="Rectangle 5">
            <a:extLst>
              <a:ext uri="{FF2B5EF4-FFF2-40B4-BE49-F238E27FC236}">
                <a16:creationId xmlns:a16="http://schemas.microsoft.com/office/drawing/2014/main" id="{34228B4A-4A8A-C17E-E097-2FB77D76D6FC}"/>
              </a:ext>
            </a:extLst>
          </p:cNvPr>
          <p:cNvSpPr/>
          <p:nvPr/>
        </p:nvSpPr>
        <p:spPr>
          <a:xfrm>
            <a:off x="171244" y="1895302"/>
            <a:ext cx="2906716" cy="769441"/>
          </a:xfrm>
          <a:prstGeom prst="rect">
            <a:avLst/>
          </a:prstGeom>
          <a:noFill/>
        </p:spPr>
        <p:txBody>
          <a:bodyPr wrap="square" lIns="91440" tIns="45720" rIns="91440" bIns="45720">
            <a:spAutoFit/>
          </a:bodyPr>
          <a:lstStyle/>
          <a:p>
            <a:pPr algn="ctr"/>
            <a:r>
              <a:rPr lang="en-US" sz="4400" b="0" cap="none" spc="0" dirty="0">
                <a:ln w="0"/>
                <a:solidFill>
                  <a:schemeClr val="accent1"/>
                </a:solidFill>
                <a:effectLst>
                  <a:outerShdw blurRad="38100" dist="25400" dir="5400000" algn="ctr" rotWithShape="0">
                    <a:srgbClr val="6E747A">
                      <a:alpha val="43000"/>
                    </a:srgbClr>
                  </a:outerShdw>
                </a:effectLst>
              </a:rPr>
              <a:t>Byte: </a:t>
            </a:r>
          </a:p>
        </p:txBody>
      </p:sp>
      <p:sp>
        <p:nvSpPr>
          <p:cNvPr id="11" name="TextBox 10">
            <a:extLst>
              <a:ext uri="{FF2B5EF4-FFF2-40B4-BE49-F238E27FC236}">
                <a16:creationId xmlns:a16="http://schemas.microsoft.com/office/drawing/2014/main" id="{B90B9612-69F1-19F8-F770-B5A2E04377A5}"/>
              </a:ext>
            </a:extLst>
          </p:cNvPr>
          <p:cNvSpPr txBox="1"/>
          <p:nvPr/>
        </p:nvSpPr>
        <p:spPr>
          <a:xfrm>
            <a:off x="2084047" y="2745264"/>
            <a:ext cx="6033052" cy="1569660"/>
          </a:xfrm>
          <a:prstGeom prst="rect">
            <a:avLst/>
          </a:prstGeom>
          <a:noFill/>
        </p:spPr>
        <p:txBody>
          <a:bodyPr wrap="square" rtlCol="0">
            <a:spAutoFit/>
          </a:bodyPr>
          <a:lstStyle/>
          <a:p>
            <a:r>
              <a:rPr lang="en-US" sz="2400" dirty="0"/>
              <a:t>Size: 8 bits (1 byte)</a:t>
            </a:r>
            <a:br>
              <a:rPr lang="en-US" sz="2400" dirty="0"/>
            </a:br>
            <a:r>
              <a:rPr lang="en-US" sz="2400" dirty="0"/>
              <a:t>Range: from -128 to 127</a:t>
            </a:r>
          </a:p>
          <a:p>
            <a:r>
              <a:rPr lang="en-US" sz="2400" dirty="0"/>
              <a:t>Useful for memory savings in large data</a:t>
            </a:r>
          </a:p>
          <a:p>
            <a:r>
              <a:rPr lang="en-US" sz="2400" dirty="0"/>
              <a:t> </a:t>
            </a:r>
            <a:endParaRPr lang="en-IN" sz="2400" dirty="0"/>
          </a:p>
        </p:txBody>
      </p:sp>
      <p:sp>
        <p:nvSpPr>
          <p:cNvPr id="12" name="TextBox 11">
            <a:extLst>
              <a:ext uri="{FF2B5EF4-FFF2-40B4-BE49-F238E27FC236}">
                <a16:creationId xmlns:a16="http://schemas.microsoft.com/office/drawing/2014/main" id="{74B973B8-5989-1176-FA6A-5BCDAA57A16B}"/>
              </a:ext>
            </a:extLst>
          </p:cNvPr>
          <p:cNvSpPr txBox="1"/>
          <p:nvPr/>
        </p:nvSpPr>
        <p:spPr>
          <a:xfrm>
            <a:off x="911229" y="4609451"/>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Syntax :</a:t>
            </a:r>
          </a:p>
          <a:p>
            <a:r>
              <a:rPr lang="en-IN" i="1" dirty="0">
                <a:solidFill>
                  <a:schemeClr val="bg2">
                    <a:lumMod val="60000"/>
                    <a:lumOff val="40000"/>
                  </a:schemeClr>
                </a:solidFill>
              </a:rPr>
              <a:t> </a:t>
            </a:r>
            <a:r>
              <a:rPr lang="en-IN" i="1" dirty="0">
                <a:solidFill>
                  <a:schemeClr val="accent5">
                    <a:lumMod val="75000"/>
                  </a:schemeClr>
                </a:solidFill>
              </a:rPr>
              <a:t>byte</a:t>
            </a:r>
            <a:r>
              <a:rPr lang="en-IN" i="1" dirty="0">
                <a:solidFill>
                  <a:schemeClr val="bg2">
                    <a:lumMod val="60000"/>
                    <a:lumOff val="40000"/>
                  </a:schemeClr>
                </a:solidFill>
              </a:rPr>
              <a:t> </a:t>
            </a:r>
            <a:r>
              <a:rPr lang="en-IN" i="1" dirty="0" err="1">
                <a:solidFill>
                  <a:srgbClr val="FFFF00"/>
                </a:solidFill>
              </a:rPr>
              <a:t>variableName</a:t>
            </a:r>
            <a:r>
              <a:rPr lang="en-IN" i="1" dirty="0">
                <a:solidFill>
                  <a:schemeClr val="tx1">
                    <a:lumMod val="95000"/>
                  </a:schemeClr>
                </a:solidFill>
              </a:rPr>
              <a:t> </a:t>
            </a:r>
            <a:r>
              <a:rPr lang="en-IN" i="1" dirty="0">
                <a:solidFill>
                  <a:schemeClr val="tx1">
                    <a:lumMod val="85000"/>
                  </a:schemeClr>
                </a:solidFill>
              </a:rPr>
              <a:t>=</a:t>
            </a:r>
            <a:r>
              <a:rPr lang="en-IN" i="1" dirty="0">
                <a:solidFill>
                  <a:schemeClr val="bg2">
                    <a:lumMod val="60000"/>
                    <a:lumOff val="40000"/>
                  </a:schemeClr>
                </a:solidFill>
              </a:rPr>
              <a:t> value;</a:t>
            </a:r>
          </a:p>
        </p:txBody>
      </p:sp>
      <p:sp>
        <p:nvSpPr>
          <p:cNvPr id="13" name="TextBox 12">
            <a:extLst>
              <a:ext uri="{FF2B5EF4-FFF2-40B4-BE49-F238E27FC236}">
                <a16:creationId xmlns:a16="http://schemas.microsoft.com/office/drawing/2014/main" id="{2E8878A8-7E08-8DEC-0747-B4D20B79C6B7}"/>
              </a:ext>
            </a:extLst>
          </p:cNvPr>
          <p:cNvSpPr txBox="1"/>
          <p:nvPr/>
        </p:nvSpPr>
        <p:spPr>
          <a:xfrm>
            <a:off x="2419883" y="2119509"/>
            <a:ext cx="4287297" cy="461665"/>
          </a:xfrm>
          <a:prstGeom prst="rect">
            <a:avLst/>
          </a:prstGeom>
          <a:noFill/>
        </p:spPr>
        <p:txBody>
          <a:bodyPr wrap="square" rtlCol="0">
            <a:spAutoFit/>
          </a:bodyPr>
          <a:lstStyle/>
          <a:p>
            <a:r>
              <a:rPr lang="en-IN" sz="2400" i="1" dirty="0">
                <a:solidFill>
                  <a:srgbClr val="0070C0"/>
                </a:solidFill>
              </a:rPr>
              <a:t>Stores Numeric value</a:t>
            </a:r>
          </a:p>
        </p:txBody>
      </p:sp>
    </p:spTree>
    <p:extLst>
      <p:ext uri="{BB962C8B-B14F-4D97-AF65-F5344CB8AC3E}">
        <p14:creationId xmlns:p14="http://schemas.microsoft.com/office/powerpoint/2010/main" val="418433547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anim calcmode="lin" valueType="num">
                                      <p:cBhvr>
                                        <p:cTn id="11" dur="1000" fill="hold"/>
                                        <p:tgtEl>
                                          <p:spTgt spid="11"/>
                                        </p:tgtEl>
                                        <p:attrNameLst>
                                          <p:attrName>ppt_x</p:attrName>
                                        </p:attrNameLst>
                                      </p:cBhvr>
                                      <p:tavLst>
                                        <p:tav tm="0">
                                          <p:val>
                                            <p:strVal val="#ppt_x"/>
                                          </p:val>
                                        </p:tav>
                                        <p:tav tm="100000">
                                          <p:val>
                                            <p:strVal val="#ppt_x"/>
                                          </p:val>
                                        </p:tav>
                                      </p:tavLst>
                                    </p:anim>
                                    <p:anim calcmode="lin" valueType="num">
                                      <p:cBhvr>
                                        <p:cTn id="12" dur="1000" fill="hold"/>
                                        <p:tgtEl>
                                          <p:spTgt spid="11"/>
                                        </p:tgtEl>
                                        <p:attrNameLst>
                                          <p:attrName>ppt_y</p:attrName>
                                        </p:attrNameLst>
                                      </p:cBhvr>
                                      <p:tavLst>
                                        <p:tav tm="0">
                                          <p:val>
                                            <p:strVal val="#ppt_y+.1"/>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B9B5-7155-0DA4-0849-B4173C71D63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531C451-AD9A-B08A-F3DA-5B06C35A5E95}"/>
              </a:ext>
            </a:extLst>
          </p:cNvPr>
          <p:cNvSpPr/>
          <p:nvPr/>
        </p:nvSpPr>
        <p:spPr>
          <a:xfrm>
            <a:off x="1004833" y="214196"/>
            <a:ext cx="727474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Numeric : Data type</a:t>
            </a:r>
          </a:p>
        </p:txBody>
      </p:sp>
      <p:sp>
        <p:nvSpPr>
          <p:cNvPr id="6" name="Rectangle 5">
            <a:extLst>
              <a:ext uri="{FF2B5EF4-FFF2-40B4-BE49-F238E27FC236}">
                <a16:creationId xmlns:a16="http://schemas.microsoft.com/office/drawing/2014/main" id="{D27A133F-32E4-B00B-F017-8AB8E40D3345}"/>
              </a:ext>
            </a:extLst>
          </p:cNvPr>
          <p:cNvSpPr/>
          <p:nvPr/>
        </p:nvSpPr>
        <p:spPr>
          <a:xfrm>
            <a:off x="553082" y="1895302"/>
            <a:ext cx="2906716" cy="769441"/>
          </a:xfrm>
          <a:prstGeom prst="rect">
            <a:avLst/>
          </a:prstGeom>
          <a:noFill/>
        </p:spPr>
        <p:txBody>
          <a:bodyPr wrap="squar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Short</a:t>
            </a:r>
            <a:r>
              <a:rPr lang="en-US" sz="4400" b="0" cap="none" spc="0" dirty="0">
                <a:ln w="0"/>
                <a:solidFill>
                  <a:schemeClr val="accent1"/>
                </a:solidFill>
                <a:effectLst>
                  <a:outerShdw blurRad="38100" dist="25400" dir="5400000" algn="ctr" rotWithShape="0">
                    <a:srgbClr val="6E747A">
                      <a:alpha val="43000"/>
                    </a:srgbClr>
                  </a:outerShdw>
                </a:effectLst>
              </a:rPr>
              <a:t>: </a:t>
            </a:r>
          </a:p>
        </p:txBody>
      </p:sp>
      <p:sp>
        <p:nvSpPr>
          <p:cNvPr id="11" name="TextBox 10">
            <a:extLst>
              <a:ext uri="{FF2B5EF4-FFF2-40B4-BE49-F238E27FC236}">
                <a16:creationId xmlns:a16="http://schemas.microsoft.com/office/drawing/2014/main" id="{0ECF6E2C-26CB-C225-E17D-B540C0F2637B}"/>
              </a:ext>
            </a:extLst>
          </p:cNvPr>
          <p:cNvSpPr txBox="1"/>
          <p:nvPr/>
        </p:nvSpPr>
        <p:spPr>
          <a:xfrm>
            <a:off x="2465885" y="2745264"/>
            <a:ext cx="6033052" cy="1938992"/>
          </a:xfrm>
          <a:prstGeom prst="rect">
            <a:avLst/>
          </a:prstGeom>
          <a:noFill/>
        </p:spPr>
        <p:txBody>
          <a:bodyPr wrap="square" rtlCol="0">
            <a:spAutoFit/>
          </a:bodyPr>
          <a:lstStyle/>
          <a:p>
            <a:r>
              <a:rPr lang="en-US" sz="2400" dirty="0"/>
              <a:t>Size: 16 bits (2 Bytes)</a:t>
            </a:r>
            <a:endParaRPr lang="en-US" dirty="0"/>
          </a:p>
          <a:p>
            <a:r>
              <a:rPr lang="en-US" sz="2400" dirty="0"/>
              <a:t>Range: from </a:t>
            </a:r>
            <a:r>
              <a:rPr lang="en-IN" dirty="0"/>
              <a:t> </a:t>
            </a:r>
            <a:r>
              <a:rPr lang="en-IN" sz="2400" dirty="0"/>
              <a:t>-32,768 to 32,767</a:t>
            </a:r>
            <a:endParaRPr lang="en-IN" dirty="0"/>
          </a:p>
          <a:p>
            <a:endParaRPr lang="en-US" sz="2400" dirty="0"/>
          </a:p>
          <a:p>
            <a:endParaRPr lang="en-US" sz="2400" dirty="0"/>
          </a:p>
          <a:p>
            <a:r>
              <a:rPr lang="en-US" sz="2400" dirty="0"/>
              <a:t> </a:t>
            </a:r>
            <a:endParaRPr lang="en-IN" sz="2400" dirty="0"/>
          </a:p>
        </p:txBody>
      </p:sp>
      <p:sp>
        <p:nvSpPr>
          <p:cNvPr id="12" name="TextBox 11">
            <a:extLst>
              <a:ext uri="{FF2B5EF4-FFF2-40B4-BE49-F238E27FC236}">
                <a16:creationId xmlns:a16="http://schemas.microsoft.com/office/drawing/2014/main" id="{483BF7AE-FE88-BD8B-3CD2-D899B9B8533F}"/>
              </a:ext>
            </a:extLst>
          </p:cNvPr>
          <p:cNvSpPr txBox="1"/>
          <p:nvPr/>
        </p:nvSpPr>
        <p:spPr>
          <a:xfrm>
            <a:off x="1293067" y="4609451"/>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Syntax :</a:t>
            </a:r>
          </a:p>
          <a:p>
            <a:r>
              <a:rPr lang="en-IN" i="1" dirty="0">
                <a:solidFill>
                  <a:schemeClr val="bg2">
                    <a:lumMod val="60000"/>
                    <a:lumOff val="40000"/>
                  </a:schemeClr>
                </a:solidFill>
              </a:rPr>
              <a:t> </a:t>
            </a:r>
            <a:r>
              <a:rPr lang="en-IN" i="1" dirty="0">
                <a:solidFill>
                  <a:schemeClr val="accent5">
                    <a:lumMod val="75000"/>
                  </a:schemeClr>
                </a:solidFill>
              </a:rPr>
              <a:t>short</a:t>
            </a:r>
            <a:r>
              <a:rPr lang="en-IN" i="1" dirty="0">
                <a:solidFill>
                  <a:schemeClr val="bg2">
                    <a:lumMod val="60000"/>
                    <a:lumOff val="40000"/>
                  </a:schemeClr>
                </a:solidFill>
              </a:rPr>
              <a:t> </a:t>
            </a:r>
            <a:r>
              <a:rPr lang="en-IN" i="1" dirty="0" err="1">
                <a:solidFill>
                  <a:srgbClr val="FFFF00"/>
                </a:solidFill>
              </a:rPr>
              <a:t>variableName</a:t>
            </a:r>
            <a:r>
              <a:rPr lang="en-IN" i="1" dirty="0">
                <a:solidFill>
                  <a:schemeClr val="tx1">
                    <a:lumMod val="95000"/>
                  </a:schemeClr>
                </a:solidFill>
              </a:rPr>
              <a:t> </a:t>
            </a:r>
            <a:r>
              <a:rPr lang="en-IN" i="1" dirty="0">
                <a:solidFill>
                  <a:schemeClr val="tx1">
                    <a:lumMod val="85000"/>
                  </a:schemeClr>
                </a:solidFill>
              </a:rPr>
              <a:t>=</a:t>
            </a:r>
            <a:r>
              <a:rPr lang="en-IN" i="1" dirty="0">
                <a:solidFill>
                  <a:schemeClr val="bg2">
                    <a:lumMod val="60000"/>
                    <a:lumOff val="40000"/>
                  </a:schemeClr>
                </a:solidFill>
              </a:rPr>
              <a:t> value;</a:t>
            </a:r>
          </a:p>
        </p:txBody>
      </p:sp>
      <p:sp>
        <p:nvSpPr>
          <p:cNvPr id="13" name="TextBox 12">
            <a:extLst>
              <a:ext uri="{FF2B5EF4-FFF2-40B4-BE49-F238E27FC236}">
                <a16:creationId xmlns:a16="http://schemas.microsoft.com/office/drawing/2014/main" id="{9B9AE9EE-A565-0984-779A-7611EFB6CB45}"/>
              </a:ext>
            </a:extLst>
          </p:cNvPr>
          <p:cNvSpPr txBox="1"/>
          <p:nvPr/>
        </p:nvSpPr>
        <p:spPr>
          <a:xfrm>
            <a:off x="2801721" y="2119509"/>
            <a:ext cx="4287297" cy="461665"/>
          </a:xfrm>
          <a:prstGeom prst="rect">
            <a:avLst/>
          </a:prstGeom>
          <a:noFill/>
        </p:spPr>
        <p:txBody>
          <a:bodyPr wrap="square" rtlCol="0">
            <a:spAutoFit/>
          </a:bodyPr>
          <a:lstStyle/>
          <a:p>
            <a:r>
              <a:rPr lang="en-IN" sz="2400" i="1" dirty="0">
                <a:solidFill>
                  <a:srgbClr val="0070C0"/>
                </a:solidFill>
              </a:rPr>
              <a:t>Stores Numeric value</a:t>
            </a:r>
          </a:p>
        </p:txBody>
      </p:sp>
    </p:spTree>
    <p:extLst>
      <p:ext uri="{BB962C8B-B14F-4D97-AF65-F5344CB8AC3E}">
        <p14:creationId xmlns:p14="http://schemas.microsoft.com/office/powerpoint/2010/main" val="221836503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anim calcmode="lin" valueType="num">
                                      <p:cBhvr>
                                        <p:cTn id="11" dur="1000" fill="hold"/>
                                        <p:tgtEl>
                                          <p:spTgt spid="11"/>
                                        </p:tgtEl>
                                        <p:attrNameLst>
                                          <p:attrName>ppt_x</p:attrName>
                                        </p:attrNameLst>
                                      </p:cBhvr>
                                      <p:tavLst>
                                        <p:tav tm="0">
                                          <p:val>
                                            <p:strVal val="#ppt_x"/>
                                          </p:val>
                                        </p:tav>
                                        <p:tav tm="100000">
                                          <p:val>
                                            <p:strVal val="#ppt_x"/>
                                          </p:val>
                                        </p:tav>
                                      </p:tavLst>
                                    </p:anim>
                                    <p:anim calcmode="lin" valueType="num">
                                      <p:cBhvr>
                                        <p:cTn id="12" dur="1000" fill="hold"/>
                                        <p:tgtEl>
                                          <p:spTgt spid="11"/>
                                        </p:tgtEl>
                                        <p:attrNameLst>
                                          <p:attrName>ppt_y</p:attrName>
                                        </p:attrNameLst>
                                      </p:cBhvr>
                                      <p:tavLst>
                                        <p:tav tm="0">
                                          <p:val>
                                            <p:strVal val="#ppt_y+.1"/>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animBg="1"/>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1EEC1-33A7-45CE-5F29-BDC03FC365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0BE0E4-8A47-1839-F4D3-B06A9885E28F}"/>
              </a:ext>
            </a:extLst>
          </p:cNvPr>
          <p:cNvSpPr/>
          <p:nvPr/>
        </p:nvSpPr>
        <p:spPr>
          <a:xfrm>
            <a:off x="924340" y="214196"/>
            <a:ext cx="727474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Numeric : Data type</a:t>
            </a:r>
          </a:p>
        </p:txBody>
      </p:sp>
      <p:sp>
        <p:nvSpPr>
          <p:cNvPr id="5" name="TextBox 4">
            <a:extLst>
              <a:ext uri="{FF2B5EF4-FFF2-40B4-BE49-F238E27FC236}">
                <a16:creationId xmlns:a16="http://schemas.microsoft.com/office/drawing/2014/main" id="{AFD571D7-BEB0-FFFA-DB7A-B8C386D3B9D4}"/>
              </a:ext>
            </a:extLst>
          </p:cNvPr>
          <p:cNvSpPr txBox="1"/>
          <p:nvPr/>
        </p:nvSpPr>
        <p:spPr>
          <a:xfrm>
            <a:off x="1182430" y="1158701"/>
            <a:ext cx="7364895" cy="461665"/>
          </a:xfrm>
          <a:prstGeom prst="rect">
            <a:avLst/>
          </a:prstGeom>
          <a:noFill/>
        </p:spPr>
        <p:txBody>
          <a:bodyPr wrap="square" rtlCol="0">
            <a:spAutoFit/>
          </a:bodyPr>
          <a:lstStyle/>
          <a:p>
            <a:r>
              <a:rPr lang="en-US" sz="2400" dirty="0">
                <a:solidFill>
                  <a:srgbClr val="FFFF00"/>
                </a:solidFill>
              </a:rPr>
              <a:t>Byte, short, int, long, float, double</a:t>
            </a:r>
          </a:p>
        </p:txBody>
      </p:sp>
      <p:sp>
        <p:nvSpPr>
          <p:cNvPr id="6" name="Rectangle 5">
            <a:extLst>
              <a:ext uri="{FF2B5EF4-FFF2-40B4-BE49-F238E27FC236}">
                <a16:creationId xmlns:a16="http://schemas.microsoft.com/office/drawing/2014/main" id="{5B2EBD2F-D81D-D5CA-359E-8806CB7B5115}"/>
              </a:ext>
            </a:extLst>
          </p:cNvPr>
          <p:cNvSpPr/>
          <p:nvPr/>
        </p:nvSpPr>
        <p:spPr>
          <a:xfrm>
            <a:off x="834329" y="1877703"/>
            <a:ext cx="2906716" cy="769441"/>
          </a:xfrm>
          <a:prstGeom prst="rect">
            <a:avLst/>
          </a:prstGeom>
          <a:noFill/>
        </p:spPr>
        <p:txBody>
          <a:bodyPr wrap="squar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Integer</a:t>
            </a:r>
            <a:r>
              <a:rPr lang="en-US" sz="4400" b="0" cap="none" spc="0" dirty="0">
                <a:ln w="0"/>
                <a:solidFill>
                  <a:schemeClr val="accent1"/>
                </a:solidFill>
                <a:effectLst>
                  <a:outerShdw blurRad="38100" dist="25400" dir="5400000" algn="ctr" rotWithShape="0">
                    <a:srgbClr val="6E747A">
                      <a:alpha val="43000"/>
                    </a:srgbClr>
                  </a:outerShdw>
                </a:effectLst>
              </a:rPr>
              <a:t>: </a:t>
            </a:r>
          </a:p>
        </p:txBody>
      </p:sp>
      <p:sp>
        <p:nvSpPr>
          <p:cNvPr id="11" name="TextBox 10">
            <a:extLst>
              <a:ext uri="{FF2B5EF4-FFF2-40B4-BE49-F238E27FC236}">
                <a16:creationId xmlns:a16="http://schemas.microsoft.com/office/drawing/2014/main" id="{B967F6DE-A5BE-E730-B5E1-8F73C331CEBF}"/>
              </a:ext>
            </a:extLst>
          </p:cNvPr>
          <p:cNvSpPr txBox="1"/>
          <p:nvPr/>
        </p:nvSpPr>
        <p:spPr>
          <a:xfrm>
            <a:off x="2385392" y="2745264"/>
            <a:ext cx="6033052" cy="2031325"/>
          </a:xfrm>
          <a:prstGeom prst="rect">
            <a:avLst/>
          </a:prstGeom>
          <a:noFill/>
        </p:spPr>
        <p:txBody>
          <a:bodyPr wrap="square" rtlCol="0">
            <a:spAutoFit/>
          </a:bodyPr>
          <a:lstStyle/>
          <a:p>
            <a:r>
              <a:rPr lang="en-US" sz="2400" dirty="0"/>
              <a:t>Size: Size: 32 bits (4 bytes)</a:t>
            </a:r>
          </a:p>
          <a:p>
            <a:r>
              <a:rPr lang="en-US" sz="2400" dirty="0"/>
              <a:t>Range: From </a:t>
            </a:r>
            <a:r>
              <a:rPr lang="en-IN" dirty="0"/>
              <a:t>-2,147,483,648 to 2,147,483,647</a:t>
            </a:r>
          </a:p>
          <a:p>
            <a:endParaRPr lang="en-IN" dirty="0"/>
          </a:p>
          <a:p>
            <a:r>
              <a:rPr lang="en-US" dirty="0"/>
              <a:t>Used to store integer values without decimals</a:t>
            </a:r>
          </a:p>
          <a:p>
            <a:r>
              <a:rPr lang="en-US" dirty="0"/>
              <a:t>Suitable for general-purpose integer calculations</a:t>
            </a:r>
          </a:p>
          <a:p>
            <a:endParaRPr lang="en-US" sz="2400" dirty="0"/>
          </a:p>
        </p:txBody>
      </p:sp>
      <p:sp>
        <p:nvSpPr>
          <p:cNvPr id="12" name="TextBox 11">
            <a:extLst>
              <a:ext uri="{FF2B5EF4-FFF2-40B4-BE49-F238E27FC236}">
                <a16:creationId xmlns:a16="http://schemas.microsoft.com/office/drawing/2014/main" id="{03EB2463-72A4-84FE-AFF4-5E62226117A6}"/>
              </a:ext>
            </a:extLst>
          </p:cNvPr>
          <p:cNvSpPr txBox="1"/>
          <p:nvPr/>
        </p:nvSpPr>
        <p:spPr>
          <a:xfrm>
            <a:off x="1212574" y="4840560"/>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Syntax :</a:t>
            </a:r>
          </a:p>
          <a:p>
            <a:r>
              <a:rPr lang="en-IN" i="1" dirty="0">
                <a:solidFill>
                  <a:schemeClr val="bg2">
                    <a:lumMod val="60000"/>
                    <a:lumOff val="40000"/>
                  </a:schemeClr>
                </a:solidFill>
              </a:rPr>
              <a:t> </a:t>
            </a:r>
            <a:r>
              <a:rPr lang="en-IN" i="1" dirty="0">
                <a:solidFill>
                  <a:schemeClr val="accent5">
                    <a:lumMod val="75000"/>
                  </a:schemeClr>
                </a:solidFill>
              </a:rPr>
              <a:t>int</a:t>
            </a:r>
            <a:r>
              <a:rPr lang="en-IN" i="1" dirty="0">
                <a:solidFill>
                  <a:schemeClr val="bg2">
                    <a:lumMod val="60000"/>
                    <a:lumOff val="40000"/>
                  </a:schemeClr>
                </a:solidFill>
              </a:rPr>
              <a:t> </a:t>
            </a:r>
            <a:r>
              <a:rPr lang="en-IN" i="1" dirty="0" err="1">
                <a:solidFill>
                  <a:srgbClr val="FFFF00"/>
                </a:solidFill>
              </a:rPr>
              <a:t>variableName</a:t>
            </a:r>
            <a:r>
              <a:rPr lang="en-IN" i="1" dirty="0">
                <a:solidFill>
                  <a:schemeClr val="tx1">
                    <a:lumMod val="95000"/>
                  </a:schemeClr>
                </a:solidFill>
              </a:rPr>
              <a:t> </a:t>
            </a:r>
            <a:r>
              <a:rPr lang="en-IN" i="1" dirty="0">
                <a:solidFill>
                  <a:schemeClr val="tx1">
                    <a:lumMod val="85000"/>
                  </a:schemeClr>
                </a:solidFill>
              </a:rPr>
              <a:t>=</a:t>
            </a:r>
            <a:r>
              <a:rPr lang="en-IN" i="1" dirty="0">
                <a:solidFill>
                  <a:schemeClr val="bg2">
                    <a:lumMod val="60000"/>
                    <a:lumOff val="40000"/>
                  </a:schemeClr>
                </a:solidFill>
              </a:rPr>
              <a:t> value;</a:t>
            </a:r>
          </a:p>
        </p:txBody>
      </p:sp>
      <p:sp>
        <p:nvSpPr>
          <p:cNvPr id="13" name="TextBox 12">
            <a:extLst>
              <a:ext uri="{FF2B5EF4-FFF2-40B4-BE49-F238E27FC236}">
                <a16:creationId xmlns:a16="http://schemas.microsoft.com/office/drawing/2014/main" id="{C651D44E-F9B0-D787-7217-B02838E1DE45}"/>
              </a:ext>
            </a:extLst>
          </p:cNvPr>
          <p:cNvSpPr txBox="1"/>
          <p:nvPr/>
        </p:nvSpPr>
        <p:spPr>
          <a:xfrm>
            <a:off x="3645676" y="2262424"/>
            <a:ext cx="4287297" cy="461665"/>
          </a:xfrm>
          <a:prstGeom prst="rect">
            <a:avLst/>
          </a:prstGeom>
          <a:noFill/>
        </p:spPr>
        <p:txBody>
          <a:bodyPr wrap="square" rtlCol="0">
            <a:spAutoFit/>
          </a:bodyPr>
          <a:lstStyle/>
          <a:p>
            <a:r>
              <a:rPr lang="en-IN" sz="2400" i="1" dirty="0">
                <a:solidFill>
                  <a:srgbClr val="0070C0"/>
                </a:solidFill>
              </a:rPr>
              <a:t>Stores Numeric value</a:t>
            </a:r>
          </a:p>
        </p:txBody>
      </p:sp>
    </p:spTree>
    <p:extLst>
      <p:ext uri="{BB962C8B-B14F-4D97-AF65-F5344CB8AC3E}">
        <p14:creationId xmlns:p14="http://schemas.microsoft.com/office/powerpoint/2010/main" val="289285510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anim calcmode="lin" valueType="num">
                                      <p:cBhvr>
                                        <p:cTn id="11" dur="1000" fill="hold"/>
                                        <p:tgtEl>
                                          <p:spTgt spid="11"/>
                                        </p:tgtEl>
                                        <p:attrNameLst>
                                          <p:attrName>ppt_x</p:attrName>
                                        </p:attrNameLst>
                                      </p:cBhvr>
                                      <p:tavLst>
                                        <p:tav tm="0">
                                          <p:val>
                                            <p:strVal val="#ppt_x"/>
                                          </p:val>
                                        </p:tav>
                                        <p:tav tm="100000">
                                          <p:val>
                                            <p:strVal val="#ppt_x"/>
                                          </p:val>
                                        </p:tav>
                                      </p:tavLst>
                                    </p:anim>
                                    <p:anim calcmode="lin" valueType="num">
                                      <p:cBhvr>
                                        <p:cTn id="12" dur="1000" fill="hold"/>
                                        <p:tgtEl>
                                          <p:spTgt spid="11"/>
                                        </p:tgtEl>
                                        <p:attrNameLst>
                                          <p:attrName>ppt_y</p:attrName>
                                        </p:attrNameLst>
                                      </p:cBhvr>
                                      <p:tavLst>
                                        <p:tav tm="0">
                                          <p:val>
                                            <p:strVal val="#ppt_y+.1"/>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animBg="1"/>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A5903-9D1E-DE0B-6998-733F8BA33F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1A778B0-2A8A-B8EB-8C38-C43DD4534DA7}"/>
              </a:ext>
            </a:extLst>
          </p:cNvPr>
          <p:cNvSpPr/>
          <p:nvPr/>
        </p:nvSpPr>
        <p:spPr>
          <a:xfrm>
            <a:off x="854108" y="133808"/>
            <a:ext cx="727474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Numeric : Data type</a:t>
            </a:r>
          </a:p>
        </p:txBody>
      </p:sp>
      <p:sp>
        <p:nvSpPr>
          <p:cNvPr id="5" name="TextBox 4">
            <a:extLst>
              <a:ext uri="{FF2B5EF4-FFF2-40B4-BE49-F238E27FC236}">
                <a16:creationId xmlns:a16="http://schemas.microsoft.com/office/drawing/2014/main" id="{395EBA87-1A3F-8186-1BB3-F85A1E7E204A}"/>
              </a:ext>
            </a:extLst>
          </p:cNvPr>
          <p:cNvSpPr txBox="1"/>
          <p:nvPr/>
        </p:nvSpPr>
        <p:spPr>
          <a:xfrm>
            <a:off x="1112198" y="1078313"/>
            <a:ext cx="7364895" cy="461665"/>
          </a:xfrm>
          <a:prstGeom prst="rect">
            <a:avLst/>
          </a:prstGeom>
          <a:noFill/>
        </p:spPr>
        <p:txBody>
          <a:bodyPr wrap="square" rtlCol="0">
            <a:spAutoFit/>
          </a:bodyPr>
          <a:lstStyle/>
          <a:p>
            <a:r>
              <a:rPr lang="en-US" sz="2400" dirty="0">
                <a:solidFill>
                  <a:srgbClr val="FFFF00"/>
                </a:solidFill>
              </a:rPr>
              <a:t>Byte, short, int, long, float, double</a:t>
            </a:r>
          </a:p>
        </p:txBody>
      </p:sp>
      <p:sp>
        <p:nvSpPr>
          <p:cNvPr id="6" name="Rectangle 5">
            <a:extLst>
              <a:ext uri="{FF2B5EF4-FFF2-40B4-BE49-F238E27FC236}">
                <a16:creationId xmlns:a16="http://schemas.microsoft.com/office/drawing/2014/main" id="{383F60D0-8595-57DE-6BC6-BD20DFCC67CA}"/>
              </a:ext>
            </a:extLst>
          </p:cNvPr>
          <p:cNvSpPr/>
          <p:nvPr/>
        </p:nvSpPr>
        <p:spPr>
          <a:xfrm>
            <a:off x="402357" y="1814914"/>
            <a:ext cx="2906716" cy="769441"/>
          </a:xfrm>
          <a:prstGeom prst="rect">
            <a:avLst/>
          </a:prstGeom>
          <a:noFill/>
        </p:spPr>
        <p:txBody>
          <a:bodyPr wrap="squar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Long</a:t>
            </a:r>
            <a:r>
              <a:rPr lang="en-US" sz="4400" b="0" cap="none" spc="0" dirty="0">
                <a:ln w="0"/>
                <a:solidFill>
                  <a:schemeClr val="accent1"/>
                </a:solidFill>
                <a:effectLst>
                  <a:outerShdw blurRad="38100" dist="25400" dir="5400000" algn="ctr" rotWithShape="0">
                    <a:srgbClr val="6E747A">
                      <a:alpha val="43000"/>
                    </a:srgbClr>
                  </a:outerShdw>
                </a:effectLst>
              </a:rPr>
              <a:t>: </a:t>
            </a:r>
          </a:p>
        </p:txBody>
      </p:sp>
      <p:sp>
        <p:nvSpPr>
          <p:cNvPr id="11" name="TextBox 10">
            <a:extLst>
              <a:ext uri="{FF2B5EF4-FFF2-40B4-BE49-F238E27FC236}">
                <a16:creationId xmlns:a16="http://schemas.microsoft.com/office/drawing/2014/main" id="{9872EED0-C23C-9C44-0167-667BD09D6E7C}"/>
              </a:ext>
            </a:extLst>
          </p:cNvPr>
          <p:cNvSpPr txBox="1"/>
          <p:nvPr/>
        </p:nvSpPr>
        <p:spPr>
          <a:xfrm>
            <a:off x="1855715" y="2746022"/>
            <a:ext cx="7713093" cy="1846659"/>
          </a:xfrm>
          <a:prstGeom prst="rect">
            <a:avLst/>
          </a:prstGeom>
          <a:noFill/>
        </p:spPr>
        <p:txBody>
          <a:bodyPr wrap="square" rtlCol="0">
            <a:spAutoFit/>
          </a:bodyPr>
          <a:lstStyle/>
          <a:p>
            <a:r>
              <a:rPr lang="en-US" dirty="0"/>
              <a:t>Size: 64 bits (8 bytes)</a:t>
            </a:r>
          </a:p>
          <a:p>
            <a:r>
              <a:rPr lang="en-US" sz="2400" dirty="0"/>
              <a:t>Range: </a:t>
            </a:r>
            <a:r>
              <a:rPr lang="en-IN" dirty="0"/>
              <a:t>-9,223,372,036,854,775,808 to 9,223,372,036,854,775,807</a:t>
            </a:r>
            <a:endParaRPr lang="en-US" sz="2400" dirty="0"/>
          </a:p>
          <a:p>
            <a:r>
              <a:rPr lang="en-US" sz="2400" dirty="0"/>
              <a:t>Used when </a:t>
            </a:r>
            <a:r>
              <a:rPr lang="en-US" sz="2400" dirty="0" err="1"/>
              <a:t>interger</a:t>
            </a:r>
            <a:r>
              <a:rPr lang="en-US" sz="2400" dirty="0"/>
              <a:t> value larger than int  are needed.</a:t>
            </a:r>
          </a:p>
          <a:p>
            <a:r>
              <a:rPr lang="en-US" sz="2400" dirty="0"/>
              <a:t> </a:t>
            </a:r>
            <a:endParaRPr lang="en-IN" sz="2400" dirty="0"/>
          </a:p>
        </p:txBody>
      </p:sp>
      <p:sp>
        <p:nvSpPr>
          <p:cNvPr id="12" name="TextBox 11">
            <a:extLst>
              <a:ext uri="{FF2B5EF4-FFF2-40B4-BE49-F238E27FC236}">
                <a16:creationId xmlns:a16="http://schemas.microsoft.com/office/drawing/2014/main" id="{D8907ADF-0AB1-EE9F-EF08-54CAB5155AE6}"/>
              </a:ext>
            </a:extLst>
          </p:cNvPr>
          <p:cNvSpPr txBox="1"/>
          <p:nvPr/>
        </p:nvSpPr>
        <p:spPr>
          <a:xfrm>
            <a:off x="1142342" y="4529063"/>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Syntax :</a:t>
            </a:r>
          </a:p>
          <a:p>
            <a:r>
              <a:rPr lang="en-IN" i="1" dirty="0">
                <a:solidFill>
                  <a:schemeClr val="bg2">
                    <a:lumMod val="60000"/>
                    <a:lumOff val="40000"/>
                  </a:schemeClr>
                </a:solidFill>
              </a:rPr>
              <a:t> </a:t>
            </a:r>
            <a:r>
              <a:rPr lang="en-IN" i="1" dirty="0">
                <a:solidFill>
                  <a:schemeClr val="accent5">
                    <a:lumMod val="75000"/>
                  </a:schemeClr>
                </a:solidFill>
              </a:rPr>
              <a:t>long</a:t>
            </a:r>
            <a:r>
              <a:rPr lang="en-IN" i="1" dirty="0">
                <a:solidFill>
                  <a:schemeClr val="bg2">
                    <a:lumMod val="60000"/>
                    <a:lumOff val="40000"/>
                  </a:schemeClr>
                </a:solidFill>
              </a:rPr>
              <a:t> </a:t>
            </a:r>
            <a:r>
              <a:rPr lang="en-IN" i="1" dirty="0" err="1">
                <a:solidFill>
                  <a:srgbClr val="FFFF00"/>
                </a:solidFill>
              </a:rPr>
              <a:t>variableName</a:t>
            </a:r>
            <a:r>
              <a:rPr lang="en-IN" i="1" dirty="0">
                <a:solidFill>
                  <a:schemeClr val="tx1">
                    <a:lumMod val="95000"/>
                  </a:schemeClr>
                </a:solidFill>
              </a:rPr>
              <a:t> </a:t>
            </a:r>
            <a:r>
              <a:rPr lang="en-IN" i="1" dirty="0">
                <a:solidFill>
                  <a:schemeClr val="tx1">
                    <a:lumMod val="85000"/>
                  </a:schemeClr>
                </a:solidFill>
              </a:rPr>
              <a:t>=</a:t>
            </a:r>
            <a:r>
              <a:rPr lang="en-IN" i="1" dirty="0">
                <a:solidFill>
                  <a:schemeClr val="bg2">
                    <a:lumMod val="60000"/>
                    <a:lumOff val="40000"/>
                  </a:schemeClr>
                </a:solidFill>
              </a:rPr>
              <a:t> </a:t>
            </a:r>
            <a:r>
              <a:rPr lang="en-IN" i="1" dirty="0" err="1">
                <a:solidFill>
                  <a:schemeClr val="bg2">
                    <a:lumMod val="60000"/>
                    <a:lumOff val="40000"/>
                  </a:schemeClr>
                </a:solidFill>
              </a:rPr>
              <a:t>valueL</a:t>
            </a:r>
            <a:r>
              <a:rPr lang="en-IN" i="1" dirty="0">
                <a:solidFill>
                  <a:schemeClr val="bg2">
                    <a:lumMod val="60000"/>
                    <a:lumOff val="40000"/>
                  </a:schemeClr>
                </a:solidFill>
              </a:rPr>
              <a:t>;</a:t>
            </a:r>
          </a:p>
        </p:txBody>
      </p:sp>
      <p:sp>
        <p:nvSpPr>
          <p:cNvPr id="13" name="TextBox 12">
            <a:extLst>
              <a:ext uri="{FF2B5EF4-FFF2-40B4-BE49-F238E27FC236}">
                <a16:creationId xmlns:a16="http://schemas.microsoft.com/office/drawing/2014/main" id="{B11616C6-BAC5-C921-03C6-1F420F77AB03}"/>
              </a:ext>
            </a:extLst>
          </p:cNvPr>
          <p:cNvSpPr txBox="1"/>
          <p:nvPr/>
        </p:nvSpPr>
        <p:spPr>
          <a:xfrm>
            <a:off x="3188037" y="2122690"/>
            <a:ext cx="4287297" cy="461665"/>
          </a:xfrm>
          <a:prstGeom prst="rect">
            <a:avLst/>
          </a:prstGeom>
          <a:noFill/>
        </p:spPr>
        <p:txBody>
          <a:bodyPr wrap="square" rtlCol="0">
            <a:spAutoFit/>
          </a:bodyPr>
          <a:lstStyle/>
          <a:p>
            <a:r>
              <a:rPr lang="en-IN" sz="2400" i="1" dirty="0">
                <a:solidFill>
                  <a:srgbClr val="0070C0"/>
                </a:solidFill>
              </a:rPr>
              <a:t>Stores Numeric value</a:t>
            </a:r>
          </a:p>
        </p:txBody>
      </p:sp>
      <p:sp>
        <p:nvSpPr>
          <p:cNvPr id="9" name="TextBox 8">
            <a:extLst>
              <a:ext uri="{FF2B5EF4-FFF2-40B4-BE49-F238E27FC236}">
                <a16:creationId xmlns:a16="http://schemas.microsoft.com/office/drawing/2014/main" id="{14545BA6-EFB7-F303-5793-5E104A6E0E5F}"/>
              </a:ext>
            </a:extLst>
          </p:cNvPr>
          <p:cNvSpPr txBox="1"/>
          <p:nvPr/>
        </p:nvSpPr>
        <p:spPr>
          <a:xfrm>
            <a:off x="1855715" y="5354702"/>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Example :</a:t>
            </a:r>
          </a:p>
          <a:p>
            <a:r>
              <a:rPr lang="en-IN" i="1" dirty="0">
                <a:solidFill>
                  <a:schemeClr val="bg2">
                    <a:lumMod val="60000"/>
                    <a:lumOff val="40000"/>
                  </a:schemeClr>
                </a:solidFill>
              </a:rPr>
              <a:t> </a:t>
            </a:r>
            <a:r>
              <a:rPr lang="en-IN" i="1" dirty="0">
                <a:solidFill>
                  <a:schemeClr val="accent5">
                    <a:lumMod val="75000"/>
                  </a:schemeClr>
                </a:solidFill>
              </a:rPr>
              <a:t>long</a:t>
            </a:r>
            <a:r>
              <a:rPr lang="en-IN" i="1" dirty="0">
                <a:solidFill>
                  <a:schemeClr val="bg2">
                    <a:lumMod val="60000"/>
                    <a:lumOff val="40000"/>
                  </a:schemeClr>
                </a:solidFill>
              </a:rPr>
              <a:t> </a:t>
            </a:r>
            <a:r>
              <a:rPr lang="en-IN" i="1" dirty="0">
                <a:solidFill>
                  <a:srgbClr val="FFFF00"/>
                </a:solidFill>
              </a:rPr>
              <a:t>distance</a:t>
            </a:r>
            <a:r>
              <a:rPr lang="en-IN" i="1" dirty="0">
                <a:solidFill>
                  <a:schemeClr val="bg2">
                    <a:lumMod val="60000"/>
                    <a:lumOff val="40000"/>
                  </a:schemeClr>
                </a:solidFill>
              </a:rPr>
              <a:t> </a:t>
            </a:r>
            <a:r>
              <a:rPr lang="en-IN" dirty="0"/>
              <a:t>= 9876543210L;</a:t>
            </a:r>
            <a:r>
              <a:rPr lang="en-IN" i="1" dirty="0">
                <a:solidFill>
                  <a:schemeClr val="bg2">
                    <a:lumMod val="60000"/>
                    <a:lumOff val="40000"/>
                  </a:schemeClr>
                </a:solidFill>
              </a:rPr>
              <a:t>;</a:t>
            </a:r>
          </a:p>
        </p:txBody>
      </p:sp>
    </p:spTree>
    <p:extLst>
      <p:ext uri="{BB962C8B-B14F-4D97-AF65-F5344CB8AC3E}">
        <p14:creationId xmlns:p14="http://schemas.microsoft.com/office/powerpoint/2010/main" val="129199864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anim calcmode="lin" valueType="num">
                                      <p:cBhvr>
                                        <p:cTn id="11" dur="1000" fill="hold"/>
                                        <p:tgtEl>
                                          <p:spTgt spid="11"/>
                                        </p:tgtEl>
                                        <p:attrNameLst>
                                          <p:attrName>ppt_x</p:attrName>
                                        </p:attrNameLst>
                                      </p:cBhvr>
                                      <p:tavLst>
                                        <p:tav tm="0">
                                          <p:val>
                                            <p:strVal val="#ppt_x"/>
                                          </p:val>
                                        </p:tav>
                                        <p:tav tm="100000">
                                          <p:val>
                                            <p:strVal val="#ppt_x"/>
                                          </p:val>
                                        </p:tav>
                                      </p:tavLst>
                                    </p:anim>
                                    <p:anim calcmode="lin" valueType="num">
                                      <p:cBhvr>
                                        <p:cTn id="12" dur="1000" fill="hold"/>
                                        <p:tgtEl>
                                          <p:spTgt spid="11"/>
                                        </p:tgtEl>
                                        <p:attrNameLst>
                                          <p:attrName>ppt_y</p:attrName>
                                        </p:attrNameLst>
                                      </p:cBhvr>
                                      <p:tavLst>
                                        <p:tav tm="0">
                                          <p:val>
                                            <p:strVal val="#ppt_y+.1"/>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arn(inVertical)">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animBg="1"/>
      <p:bldP spid="13" grpId="0"/>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260AC-C370-0629-9CC0-EA4F28752E8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8BA4785-DBF1-E068-69F3-77A3B20C79EB}"/>
              </a:ext>
            </a:extLst>
          </p:cNvPr>
          <p:cNvSpPr/>
          <p:nvPr/>
        </p:nvSpPr>
        <p:spPr>
          <a:xfrm>
            <a:off x="1014881" y="214196"/>
            <a:ext cx="727474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Numeric : Data type</a:t>
            </a:r>
          </a:p>
        </p:txBody>
      </p:sp>
      <p:sp>
        <p:nvSpPr>
          <p:cNvPr id="5" name="TextBox 4">
            <a:extLst>
              <a:ext uri="{FF2B5EF4-FFF2-40B4-BE49-F238E27FC236}">
                <a16:creationId xmlns:a16="http://schemas.microsoft.com/office/drawing/2014/main" id="{9963928C-F583-C464-E6B3-7D661D634A2D}"/>
              </a:ext>
            </a:extLst>
          </p:cNvPr>
          <p:cNvSpPr txBox="1"/>
          <p:nvPr/>
        </p:nvSpPr>
        <p:spPr>
          <a:xfrm>
            <a:off x="1272971" y="1158701"/>
            <a:ext cx="7364895" cy="461665"/>
          </a:xfrm>
          <a:prstGeom prst="rect">
            <a:avLst/>
          </a:prstGeom>
          <a:noFill/>
        </p:spPr>
        <p:txBody>
          <a:bodyPr wrap="square" rtlCol="0">
            <a:spAutoFit/>
          </a:bodyPr>
          <a:lstStyle/>
          <a:p>
            <a:r>
              <a:rPr lang="en-US" sz="2400" dirty="0">
                <a:solidFill>
                  <a:srgbClr val="FFFF00"/>
                </a:solidFill>
              </a:rPr>
              <a:t>Byte, short, int, long, float, double</a:t>
            </a:r>
          </a:p>
        </p:txBody>
      </p:sp>
      <p:sp>
        <p:nvSpPr>
          <p:cNvPr id="6" name="Rectangle 5">
            <a:extLst>
              <a:ext uri="{FF2B5EF4-FFF2-40B4-BE49-F238E27FC236}">
                <a16:creationId xmlns:a16="http://schemas.microsoft.com/office/drawing/2014/main" id="{D33B4CF8-146A-5554-2BCD-E3683F6A10AC}"/>
              </a:ext>
            </a:extLst>
          </p:cNvPr>
          <p:cNvSpPr/>
          <p:nvPr/>
        </p:nvSpPr>
        <p:spPr>
          <a:xfrm>
            <a:off x="563130" y="1895302"/>
            <a:ext cx="2906716" cy="769441"/>
          </a:xfrm>
          <a:prstGeom prst="rect">
            <a:avLst/>
          </a:prstGeom>
          <a:noFill/>
        </p:spPr>
        <p:txBody>
          <a:bodyPr wrap="squar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Float </a:t>
            </a:r>
            <a:r>
              <a:rPr lang="en-US" sz="4400" b="0" cap="none" spc="0" dirty="0">
                <a:ln w="0"/>
                <a:solidFill>
                  <a:schemeClr val="accent1"/>
                </a:solidFill>
                <a:effectLst>
                  <a:outerShdw blurRad="38100" dist="25400" dir="5400000" algn="ctr" rotWithShape="0">
                    <a:srgbClr val="6E747A">
                      <a:alpha val="43000"/>
                    </a:srgbClr>
                  </a:outerShdw>
                </a:effectLst>
              </a:rPr>
              <a:t>: </a:t>
            </a:r>
          </a:p>
        </p:txBody>
      </p:sp>
      <p:sp>
        <p:nvSpPr>
          <p:cNvPr id="11" name="TextBox 10">
            <a:extLst>
              <a:ext uri="{FF2B5EF4-FFF2-40B4-BE49-F238E27FC236}">
                <a16:creationId xmlns:a16="http://schemas.microsoft.com/office/drawing/2014/main" id="{B53E508E-20CF-C440-0C7F-AB425516EFD8}"/>
              </a:ext>
            </a:extLst>
          </p:cNvPr>
          <p:cNvSpPr txBox="1"/>
          <p:nvPr/>
        </p:nvSpPr>
        <p:spPr>
          <a:xfrm>
            <a:off x="2475933" y="2745264"/>
            <a:ext cx="6033052" cy="2123658"/>
          </a:xfrm>
          <a:prstGeom prst="rect">
            <a:avLst/>
          </a:prstGeom>
          <a:noFill/>
        </p:spPr>
        <p:txBody>
          <a:bodyPr wrap="square" rtlCol="0">
            <a:spAutoFit/>
          </a:bodyPr>
          <a:lstStyle/>
          <a:p>
            <a:r>
              <a:rPr lang="en-US" dirty="0"/>
              <a:t>Size: 32 bits (4 bytes)</a:t>
            </a:r>
          </a:p>
          <a:p>
            <a:endParaRPr lang="en-US" dirty="0"/>
          </a:p>
          <a:p>
            <a:r>
              <a:rPr lang="en-US" dirty="0"/>
              <a:t>Less precise than double but uses less memory</a:t>
            </a:r>
          </a:p>
          <a:p>
            <a:endParaRPr lang="en-US" dirty="0"/>
          </a:p>
          <a:p>
            <a:r>
              <a:rPr lang="en-US" dirty="0"/>
              <a:t>Used to store decimal numbers with fractional parts (e.g., 3.14)</a:t>
            </a:r>
          </a:p>
          <a:p>
            <a:r>
              <a:rPr lang="en-US" sz="2400" dirty="0"/>
              <a:t> </a:t>
            </a:r>
            <a:endParaRPr lang="en-IN" sz="2400" dirty="0"/>
          </a:p>
        </p:txBody>
      </p:sp>
      <p:sp>
        <p:nvSpPr>
          <p:cNvPr id="12" name="TextBox 11">
            <a:extLst>
              <a:ext uri="{FF2B5EF4-FFF2-40B4-BE49-F238E27FC236}">
                <a16:creationId xmlns:a16="http://schemas.microsoft.com/office/drawing/2014/main" id="{EBE9ECF3-EBE9-566D-49E8-5CE37FDEB5A7}"/>
              </a:ext>
            </a:extLst>
          </p:cNvPr>
          <p:cNvSpPr txBox="1"/>
          <p:nvPr/>
        </p:nvSpPr>
        <p:spPr>
          <a:xfrm>
            <a:off x="1152389" y="4868922"/>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Syntax :</a:t>
            </a:r>
          </a:p>
          <a:p>
            <a:r>
              <a:rPr lang="en-IN" i="1" dirty="0">
                <a:solidFill>
                  <a:schemeClr val="bg2">
                    <a:lumMod val="60000"/>
                    <a:lumOff val="40000"/>
                  </a:schemeClr>
                </a:solidFill>
              </a:rPr>
              <a:t> </a:t>
            </a:r>
            <a:r>
              <a:rPr lang="en-IN" i="1" dirty="0">
                <a:solidFill>
                  <a:schemeClr val="accent5">
                    <a:lumMod val="75000"/>
                  </a:schemeClr>
                </a:solidFill>
              </a:rPr>
              <a:t>byte</a:t>
            </a:r>
            <a:r>
              <a:rPr lang="en-IN" i="1" dirty="0">
                <a:solidFill>
                  <a:schemeClr val="bg2">
                    <a:lumMod val="60000"/>
                    <a:lumOff val="40000"/>
                  </a:schemeClr>
                </a:solidFill>
              </a:rPr>
              <a:t> </a:t>
            </a:r>
            <a:r>
              <a:rPr lang="en-IN" i="1" dirty="0" err="1">
                <a:solidFill>
                  <a:srgbClr val="FFFF00"/>
                </a:solidFill>
              </a:rPr>
              <a:t>variableName</a:t>
            </a:r>
            <a:r>
              <a:rPr lang="en-IN" i="1" dirty="0">
                <a:solidFill>
                  <a:schemeClr val="tx1">
                    <a:lumMod val="95000"/>
                  </a:schemeClr>
                </a:solidFill>
              </a:rPr>
              <a:t> </a:t>
            </a:r>
            <a:r>
              <a:rPr lang="en-IN" i="1" dirty="0">
                <a:solidFill>
                  <a:schemeClr val="tx1">
                    <a:lumMod val="85000"/>
                  </a:schemeClr>
                </a:solidFill>
              </a:rPr>
              <a:t>=</a:t>
            </a:r>
            <a:r>
              <a:rPr lang="en-IN" i="1" dirty="0">
                <a:solidFill>
                  <a:schemeClr val="bg2">
                    <a:lumMod val="60000"/>
                    <a:lumOff val="40000"/>
                  </a:schemeClr>
                </a:solidFill>
              </a:rPr>
              <a:t> </a:t>
            </a:r>
            <a:r>
              <a:rPr lang="en-IN" i="1" dirty="0" err="1">
                <a:solidFill>
                  <a:schemeClr val="bg2">
                    <a:lumMod val="60000"/>
                    <a:lumOff val="40000"/>
                  </a:schemeClr>
                </a:solidFill>
              </a:rPr>
              <a:t>valuef</a:t>
            </a:r>
            <a:r>
              <a:rPr lang="en-IN" i="1" dirty="0">
                <a:solidFill>
                  <a:schemeClr val="bg2">
                    <a:lumMod val="60000"/>
                    <a:lumOff val="40000"/>
                  </a:schemeClr>
                </a:solidFill>
              </a:rPr>
              <a:t>;</a:t>
            </a:r>
          </a:p>
        </p:txBody>
      </p:sp>
      <p:sp>
        <p:nvSpPr>
          <p:cNvPr id="13" name="TextBox 12">
            <a:extLst>
              <a:ext uri="{FF2B5EF4-FFF2-40B4-BE49-F238E27FC236}">
                <a16:creationId xmlns:a16="http://schemas.microsoft.com/office/drawing/2014/main" id="{BCB6D0F8-E89E-78CF-9911-78B8AD94DA5F}"/>
              </a:ext>
            </a:extLst>
          </p:cNvPr>
          <p:cNvSpPr txBox="1"/>
          <p:nvPr/>
        </p:nvSpPr>
        <p:spPr>
          <a:xfrm>
            <a:off x="3348810" y="2119509"/>
            <a:ext cx="5051609" cy="461665"/>
          </a:xfrm>
          <a:prstGeom prst="rect">
            <a:avLst/>
          </a:prstGeom>
          <a:noFill/>
        </p:spPr>
        <p:txBody>
          <a:bodyPr wrap="square" rtlCol="0">
            <a:spAutoFit/>
          </a:bodyPr>
          <a:lstStyle/>
          <a:p>
            <a:r>
              <a:rPr lang="en-IN" sz="2400" i="1" dirty="0">
                <a:solidFill>
                  <a:srgbClr val="0070C0"/>
                </a:solidFill>
              </a:rPr>
              <a:t>Stores fraction or decimal value</a:t>
            </a:r>
          </a:p>
        </p:txBody>
      </p:sp>
      <p:sp>
        <p:nvSpPr>
          <p:cNvPr id="3" name="TextBox 2">
            <a:extLst>
              <a:ext uri="{FF2B5EF4-FFF2-40B4-BE49-F238E27FC236}">
                <a16:creationId xmlns:a16="http://schemas.microsoft.com/office/drawing/2014/main" id="{207E4433-EBAB-3C7D-ECEE-6FFE6F9EBDA5}"/>
              </a:ext>
            </a:extLst>
          </p:cNvPr>
          <p:cNvSpPr txBox="1"/>
          <p:nvPr/>
        </p:nvSpPr>
        <p:spPr>
          <a:xfrm>
            <a:off x="1862296" y="5670656"/>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example :</a:t>
            </a:r>
          </a:p>
          <a:p>
            <a:r>
              <a:rPr lang="en-IN" i="1" dirty="0">
                <a:solidFill>
                  <a:schemeClr val="bg2">
                    <a:lumMod val="60000"/>
                    <a:lumOff val="40000"/>
                  </a:schemeClr>
                </a:solidFill>
              </a:rPr>
              <a:t> </a:t>
            </a:r>
            <a:r>
              <a:rPr lang="en-IN" i="1" dirty="0">
                <a:solidFill>
                  <a:schemeClr val="accent5">
                    <a:lumMod val="75000"/>
                  </a:schemeClr>
                </a:solidFill>
              </a:rPr>
              <a:t>float</a:t>
            </a:r>
            <a:r>
              <a:rPr lang="en-IN" i="1" dirty="0">
                <a:solidFill>
                  <a:schemeClr val="bg2">
                    <a:lumMod val="60000"/>
                    <a:lumOff val="40000"/>
                  </a:schemeClr>
                </a:solidFill>
              </a:rPr>
              <a:t> </a:t>
            </a:r>
            <a:r>
              <a:rPr lang="en-IN" dirty="0">
                <a:solidFill>
                  <a:srgbClr val="FFFF00"/>
                </a:solidFill>
              </a:rPr>
              <a:t>pi</a:t>
            </a:r>
            <a:r>
              <a:rPr lang="en-IN" dirty="0"/>
              <a:t> = </a:t>
            </a:r>
            <a:r>
              <a:rPr lang="en-IN" dirty="0">
                <a:solidFill>
                  <a:srgbClr val="00B0F0"/>
                </a:solidFill>
              </a:rPr>
              <a:t>3.14f;</a:t>
            </a:r>
            <a:endParaRPr lang="en-IN" i="1" dirty="0">
              <a:solidFill>
                <a:srgbClr val="00B0F0"/>
              </a:solidFill>
            </a:endParaRPr>
          </a:p>
        </p:txBody>
      </p:sp>
    </p:spTree>
    <p:extLst>
      <p:ext uri="{BB962C8B-B14F-4D97-AF65-F5344CB8AC3E}">
        <p14:creationId xmlns:p14="http://schemas.microsoft.com/office/powerpoint/2010/main" val="254073660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anim calcmode="lin" valueType="num">
                                      <p:cBhvr>
                                        <p:cTn id="11" dur="1000" fill="hold"/>
                                        <p:tgtEl>
                                          <p:spTgt spid="11"/>
                                        </p:tgtEl>
                                        <p:attrNameLst>
                                          <p:attrName>ppt_x</p:attrName>
                                        </p:attrNameLst>
                                      </p:cBhvr>
                                      <p:tavLst>
                                        <p:tav tm="0">
                                          <p:val>
                                            <p:strVal val="#ppt_x"/>
                                          </p:val>
                                        </p:tav>
                                        <p:tav tm="100000">
                                          <p:val>
                                            <p:strVal val="#ppt_x"/>
                                          </p:val>
                                        </p:tav>
                                      </p:tavLst>
                                    </p:anim>
                                    <p:anim calcmode="lin" valueType="num">
                                      <p:cBhvr>
                                        <p:cTn id="12" dur="1000" fill="hold"/>
                                        <p:tgtEl>
                                          <p:spTgt spid="11"/>
                                        </p:tgtEl>
                                        <p:attrNameLst>
                                          <p:attrName>ppt_y</p:attrName>
                                        </p:attrNameLst>
                                      </p:cBhvr>
                                      <p:tavLst>
                                        <p:tav tm="0">
                                          <p:val>
                                            <p:strVal val="#ppt_y+.1"/>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arn(inVertical)">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animBg="1"/>
      <p:bldP spid="13" grpId="0"/>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58A3F-19EA-017A-331B-02B436795A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440E09B-FDA2-524B-374B-BE4059104420}"/>
              </a:ext>
            </a:extLst>
          </p:cNvPr>
          <p:cNvSpPr/>
          <p:nvPr/>
        </p:nvSpPr>
        <p:spPr>
          <a:xfrm>
            <a:off x="864149" y="214196"/>
            <a:ext cx="727474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Numeric : Data type</a:t>
            </a:r>
          </a:p>
        </p:txBody>
      </p:sp>
      <p:sp>
        <p:nvSpPr>
          <p:cNvPr id="5" name="TextBox 4">
            <a:extLst>
              <a:ext uri="{FF2B5EF4-FFF2-40B4-BE49-F238E27FC236}">
                <a16:creationId xmlns:a16="http://schemas.microsoft.com/office/drawing/2014/main" id="{18A3CA08-4244-CB53-FBF4-A3E29A8C8E4E}"/>
              </a:ext>
            </a:extLst>
          </p:cNvPr>
          <p:cNvSpPr txBox="1"/>
          <p:nvPr/>
        </p:nvSpPr>
        <p:spPr>
          <a:xfrm>
            <a:off x="1122239" y="1158701"/>
            <a:ext cx="7364895" cy="461665"/>
          </a:xfrm>
          <a:prstGeom prst="rect">
            <a:avLst/>
          </a:prstGeom>
          <a:noFill/>
        </p:spPr>
        <p:txBody>
          <a:bodyPr wrap="square" rtlCol="0">
            <a:spAutoFit/>
          </a:bodyPr>
          <a:lstStyle/>
          <a:p>
            <a:r>
              <a:rPr lang="en-US" sz="2400" dirty="0">
                <a:solidFill>
                  <a:srgbClr val="FFFF00"/>
                </a:solidFill>
              </a:rPr>
              <a:t>Byte, short, int, long, float, double</a:t>
            </a:r>
          </a:p>
        </p:txBody>
      </p:sp>
      <p:sp>
        <p:nvSpPr>
          <p:cNvPr id="6" name="Rectangle 5">
            <a:extLst>
              <a:ext uri="{FF2B5EF4-FFF2-40B4-BE49-F238E27FC236}">
                <a16:creationId xmlns:a16="http://schemas.microsoft.com/office/drawing/2014/main" id="{4B951AB4-01A0-2016-6965-2FF541C664EB}"/>
              </a:ext>
            </a:extLst>
          </p:cNvPr>
          <p:cNvSpPr/>
          <p:nvPr/>
        </p:nvSpPr>
        <p:spPr>
          <a:xfrm>
            <a:off x="412398" y="1895302"/>
            <a:ext cx="2906716" cy="769441"/>
          </a:xfrm>
          <a:prstGeom prst="rect">
            <a:avLst/>
          </a:prstGeom>
          <a:noFill/>
        </p:spPr>
        <p:txBody>
          <a:bodyPr wrap="square" lIns="91440" tIns="45720" rIns="91440" bIns="45720">
            <a:spAutoFit/>
          </a:bodyPr>
          <a:lstStyle/>
          <a:p>
            <a:pPr algn="ctr"/>
            <a:r>
              <a:rPr lang="en-US" sz="4400" dirty="0">
                <a:ln w="0"/>
                <a:solidFill>
                  <a:schemeClr val="accent1"/>
                </a:solidFill>
                <a:effectLst>
                  <a:outerShdw blurRad="38100" dist="25400" dir="5400000" algn="ctr" rotWithShape="0">
                    <a:srgbClr val="6E747A">
                      <a:alpha val="43000"/>
                    </a:srgbClr>
                  </a:outerShdw>
                </a:effectLst>
              </a:rPr>
              <a:t>double</a:t>
            </a:r>
            <a:r>
              <a:rPr lang="en-US" sz="4400" b="0" cap="none" spc="0" dirty="0">
                <a:ln w="0"/>
                <a:solidFill>
                  <a:schemeClr val="accent1"/>
                </a:solidFill>
                <a:effectLst>
                  <a:outerShdw blurRad="38100" dist="25400" dir="5400000" algn="ctr" rotWithShape="0">
                    <a:srgbClr val="6E747A">
                      <a:alpha val="43000"/>
                    </a:srgbClr>
                  </a:outerShdw>
                </a:effectLst>
              </a:rPr>
              <a:t>: </a:t>
            </a:r>
          </a:p>
        </p:txBody>
      </p:sp>
      <p:sp>
        <p:nvSpPr>
          <p:cNvPr id="11" name="TextBox 10">
            <a:extLst>
              <a:ext uri="{FF2B5EF4-FFF2-40B4-BE49-F238E27FC236}">
                <a16:creationId xmlns:a16="http://schemas.microsoft.com/office/drawing/2014/main" id="{8B151383-7C30-2CB8-05B1-B4984C8A7068}"/>
              </a:ext>
            </a:extLst>
          </p:cNvPr>
          <p:cNvSpPr txBox="1"/>
          <p:nvPr/>
        </p:nvSpPr>
        <p:spPr>
          <a:xfrm>
            <a:off x="2325201" y="2745264"/>
            <a:ext cx="6033052" cy="1846659"/>
          </a:xfrm>
          <a:prstGeom prst="rect">
            <a:avLst/>
          </a:prstGeom>
          <a:noFill/>
        </p:spPr>
        <p:txBody>
          <a:bodyPr wrap="square" rtlCol="0">
            <a:spAutoFit/>
          </a:bodyPr>
          <a:lstStyle/>
          <a:p>
            <a:r>
              <a:rPr lang="en-US" dirty="0"/>
              <a:t>Size: 64 bits (8 bytes)</a:t>
            </a:r>
          </a:p>
          <a:p>
            <a:endParaRPr lang="en-US" dirty="0"/>
          </a:p>
          <a:p>
            <a:r>
              <a:rPr lang="en-US" dirty="0"/>
              <a:t>Stores decimal numbers with fractional parts (e.g., 3.14159)</a:t>
            </a:r>
          </a:p>
          <a:p>
            <a:endParaRPr lang="en-US" dirty="0"/>
          </a:p>
          <a:p>
            <a:r>
              <a:rPr lang="en-US" sz="2400" dirty="0"/>
              <a:t>More precise than float </a:t>
            </a:r>
            <a:endParaRPr lang="en-IN" sz="2400" dirty="0"/>
          </a:p>
        </p:txBody>
      </p:sp>
      <p:sp>
        <p:nvSpPr>
          <p:cNvPr id="12" name="TextBox 11">
            <a:extLst>
              <a:ext uri="{FF2B5EF4-FFF2-40B4-BE49-F238E27FC236}">
                <a16:creationId xmlns:a16="http://schemas.microsoft.com/office/drawing/2014/main" id="{C367073A-A2F2-2C79-CAB8-442237979465}"/>
              </a:ext>
            </a:extLst>
          </p:cNvPr>
          <p:cNvSpPr txBox="1"/>
          <p:nvPr/>
        </p:nvSpPr>
        <p:spPr>
          <a:xfrm>
            <a:off x="1152383" y="4609451"/>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Syntax :</a:t>
            </a:r>
          </a:p>
          <a:p>
            <a:r>
              <a:rPr lang="en-IN" i="1" dirty="0">
                <a:solidFill>
                  <a:schemeClr val="bg2">
                    <a:lumMod val="60000"/>
                    <a:lumOff val="40000"/>
                  </a:schemeClr>
                </a:solidFill>
              </a:rPr>
              <a:t> </a:t>
            </a:r>
            <a:r>
              <a:rPr lang="en-IN" i="1" dirty="0">
                <a:solidFill>
                  <a:schemeClr val="accent5">
                    <a:lumMod val="75000"/>
                  </a:schemeClr>
                </a:solidFill>
              </a:rPr>
              <a:t>double</a:t>
            </a:r>
            <a:r>
              <a:rPr lang="en-IN" i="1" dirty="0">
                <a:solidFill>
                  <a:schemeClr val="bg2">
                    <a:lumMod val="60000"/>
                    <a:lumOff val="40000"/>
                  </a:schemeClr>
                </a:solidFill>
              </a:rPr>
              <a:t> </a:t>
            </a:r>
            <a:r>
              <a:rPr lang="en-IN" i="1" dirty="0" err="1">
                <a:solidFill>
                  <a:srgbClr val="FFFF00"/>
                </a:solidFill>
              </a:rPr>
              <a:t>variableName</a:t>
            </a:r>
            <a:r>
              <a:rPr lang="en-IN" i="1" dirty="0">
                <a:solidFill>
                  <a:schemeClr val="tx1">
                    <a:lumMod val="95000"/>
                  </a:schemeClr>
                </a:solidFill>
              </a:rPr>
              <a:t> </a:t>
            </a:r>
            <a:r>
              <a:rPr lang="en-IN" i="1" dirty="0">
                <a:solidFill>
                  <a:schemeClr val="tx1">
                    <a:lumMod val="85000"/>
                  </a:schemeClr>
                </a:solidFill>
              </a:rPr>
              <a:t>=</a:t>
            </a:r>
            <a:r>
              <a:rPr lang="en-IN" i="1" dirty="0">
                <a:solidFill>
                  <a:schemeClr val="bg2">
                    <a:lumMod val="60000"/>
                    <a:lumOff val="40000"/>
                  </a:schemeClr>
                </a:solidFill>
              </a:rPr>
              <a:t> value;</a:t>
            </a:r>
          </a:p>
        </p:txBody>
      </p:sp>
      <p:sp>
        <p:nvSpPr>
          <p:cNvPr id="13" name="TextBox 12">
            <a:extLst>
              <a:ext uri="{FF2B5EF4-FFF2-40B4-BE49-F238E27FC236}">
                <a16:creationId xmlns:a16="http://schemas.microsoft.com/office/drawing/2014/main" id="{A0E4BE9A-95A7-45BE-CD16-BD105AB49180}"/>
              </a:ext>
            </a:extLst>
          </p:cNvPr>
          <p:cNvSpPr txBox="1"/>
          <p:nvPr/>
        </p:nvSpPr>
        <p:spPr>
          <a:xfrm>
            <a:off x="3198078" y="2131054"/>
            <a:ext cx="6177025" cy="461665"/>
          </a:xfrm>
          <a:prstGeom prst="rect">
            <a:avLst/>
          </a:prstGeom>
          <a:noFill/>
        </p:spPr>
        <p:txBody>
          <a:bodyPr wrap="square" rtlCol="0">
            <a:spAutoFit/>
          </a:bodyPr>
          <a:lstStyle/>
          <a:p>
            <a:r>
              <a:rPr lang="en-IN" sz="2400" i="1" dirty="0">
                <a:solidFill>
                  <a:srgbClr val="0070C0"/>
                </a:solidFill>
              </a:rPr>
              <a:t>Stores larger decimal or fractional value</a:t>
            </a:r>
          </a:p>
        </p:txBody>
      </p:sp>
      <p:sp>
        <p:nvSpPr>
          <p:cNvPr id="2" name="TextBox 1">
            <a:extLst>
              <a:ext uri="{FF2B5EF4-FFF2-40B4-BE49-F238E27FC236}">
                <a16:creationId xmlns:a16="http://schemas.microsoft.com/office/drawing/2014/main" id="{2CA772CC-92A8-202B-3D95-2EB47D403219}"/>
              </a:ext>
            </a:extLst>
          </p:cNvPr>
          <p:cNvSpPr txBox="1"/>
          <p:nvPr/>
        </p:nvSpPr>
        <p:spPr>
          <a:xfrm>
            <a:off x="2014727" y="5454386"/>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Example :</a:t>
            </a:r>
          </a:p>
          <a:p>
            <a:r>
              <a:rPr lang="en-IN" i="1" dirty="0">
                <a:solidFill>
                  <a:schemeClr val="bg2">
                    <a:lumMod val="60000"/>
                    <a:lumOff val="40000"/>
                  </a:schemeClr>
                </a:solidFill>
              </a:rPr>
              <a:t> </a:t>
            </a:r>
            <a:r>
              <a:rPr lang="en-IN" i="1" dirty="0">
                <a:solidFill>
                  <a:schemeClr val="accent5">
                    <a:lumMod val="75000"/>
                  </a:schemeClr>
                </a:solidFill>
              </a:rPr>
              <a:t>double</a:t>
            </a:r>
            <a:r>
              <a:rPr lang="en-IN" i="1" dirty="0">
                <a:solidFill>
                  <a:schemeClr val="bg2">
                    <a:lumMod val="60000"/>
                    <a:lumOff val="40000"/>
                  </a:schemeClr>
                </a:solidFill>
              </a:rPr>
              <a:t> </a:t>
            </a:r>
            <a:r>
              <a:rPr lang="en-IN" dirty="0">
                <a:solidFill>
                  <a:srgbClr val="FFFF00"/>
                </a:solidFill>
              </a:rPr>
              <a:t>pi</a:t>
            </a:r>
            <a:r>
              <a:rPr lang="en-IN" dirty="0"/>
              <a:t> = </a:t>
            </a:r>
            <a:r>
              <a:rPr lang="en-IN" dirty="0">
                <a:solidFill>
                  <a:srgbClr val="00B0F0"/>
                </a:solidFill>
              </a:rPr>
              <a:t>3.14159;</a:t>
            </a:r>
            <a:endParaRPr lang="en-IN" i="1" dirty="0">
              <a:solidFill>
                <a:srgbClr val="00B0F0"/>
              </a:solidFill>
            </a:endParaRPr>
          </a:p>
        </p:txBody>
      </p:sp>
    </p:spTree>
    <p:extLst>
      <p:ext uri="{BB962C8B-B14F-4D97-AF65-F5344CB8AC3E}">
        <p14:creationId xmlns:p14="http://schemas.microsoft.com/office/powerpoint/2010/main" val="191028903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anim calcmode="lin" valueType="num">
                                      <p:cBhvr>
                                        <p:cTn id="11" dur="1000" fill="hold"/>
                                        <p:tgtEl>
                                          <p:spTgt spid="11"/>
                                        </p:tgtEl>
                                        <p:attrNameLst>
                                          <p:attrName>ppt_x</p:attrName>
                                        </p:attrNameLst>
                                      </p:cBhvr>
                                      <p:tavLst>
                                        <p:tav tm="0">
                                          <p:val>
                                            <p:strVal val="#ppt_x"/>
                                          </p:val>
                                        </p:tav>
                                        <p:tav tm="100000">
                                          <p:val>
                                            <p:strVal val="#ppt_x"/>
                                          </p:val>
                                        </p:tav>
                                      </p:tavLst>
                                    </p:anim>
                                    <p:anim calcmode="lin" valueType="num">
                                      <p:cBhvr>
                                        <p:cTn id="12" dur="1000" fill="hold"/>
                                        <p:tgtEl>
                                          <p:spTgt spid="11"/>
                                        </p:tgtEl>
                                        <p:attrNameLst>
                                          <p:attrName>ppt_y</p:attrName>
                                        </p:attrNameLst>
                                      </p:cBhvr>
                                      <p:tavLst>
                                        <p:tav tm="0">
                                          <p:val>
                                            <p:strVal val="#ppt_y+.1"/>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arn(inVertical)">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animBg="1"/>
      <p:bldP spid="13" grpId="0"/>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C9CF8-6D12-0AB3-B6C9-5606676A98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FA7CA05-8CBA-8856-0E58-9125A1582ACA}"/>
              </a:ext>
            </a:extLst>
          </p:cNvPr>
          <p:cNvSpPr/>
          <p:nvPr/>
        </p:nvSpPr>
        <p:spPr>
          <a:xfrm>
            <a:off x="1230438" y="214196"/>
            <a:ext cx="6542177"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Primitive Data type</a:t>
            </a:r>
          </a:p>
        </p:txBody>
      </p:sp>
      <p:sp>
        <p:nvSpPr>
          <p:cNvPr id="5" name="TextBox 4">
            <a:extLst>
              <a:ext uri="{FF2B5EF4-FFF2-40B4-BE49-F238E27FC236}">
                <a16:creationId xmlns:a16="http://schemas.microsoft.com/office/drawing/2014/main" id="{D2F49884-66EE-73F5-8F3D-4C5227C29991}"/>
              </a:ext>
            </a:extLst>
          </p:cNvPr>
          <p:cNvSpPr txBox="1"/>
          <p:nvPr/>
        </p:nvSpPr>
        <p:spPr>
          <a:xfrm>
            <a:off x="1122239" y="1158701"/>
            <a:ext cx="7364895" cy="461665"/>
          </a:xfrm>
          <a:prstGeom prst="rect">
            <a:avLst/>
          </a:prstGeom>
          <a:noFill/>
        </p:spPr>
        <p:txBody>
          <a:bodyPr wrap="square" rtlCol="0">
            <a:spAutoFit/>
          </a:bodyPr>
          <a:lstStyle/>
          <a:p>
            <a:r>
              <a:rPr lang="en-US" sz="2400" dirty="0">
                <a:solidFill>
                  <a:srgbClr val="FFFF00"/>
                </a:solidFill>
              </a:rPr>
              <a:t>Character, Boolean,</a:t>
            </a:r>
          </a:p>
        </p:txBody>
      </p:sp>
      <p:sp>
        <p:nvSpPr>
          <p:cNvPr id="6" name="Rectangle 5">
            <a:extLst>
              <a:ext uri="{FF2B5EF4-FFF2-40B4-BE49-F238E27FC236}">
                <a16:creationId xmlns:a16="http://schemas.microsoft.com/office/drawing/2014/main" id="{1429F4B0-4A30-4937-563D-69930627FE15}"/>
              </a:ext>
            </a:extLst>
          </p:cNvPr>
          <p:cNvSpPr/>
          <p:nvPr/>
        </p:nvSpPr>
        <p:spPr>
          <a:xfrm>
            <a:off x="412398" y="1895302"/>
            <a:ext cx="2906716" cy="646331"/>
          </a:xfrm>
          <a:prstGeom prst="rect">
            <a:avLst/>
          </a:prstGeom>
          <a:noFill/>
        </p:spPr>
        <p:txBody>
          <a:bodyPr wrap="square" lIns="91440" tIns="45720" rIns="91440" bIns="45720">
            <a:spAutoFit/>
          </a:bodyPr>
          <a:lstStyle/>
          <a:p>
            <a:pPr algn="ctr"/>
            <a:r>
              <a:rPr lang="en-US" sz="3600" dirty="0">
                <a:ln w="0"/>
                <a:solidFill>
                  <a:schemeClr val="accent1"/>
                </a:solidFill>
                <a:effectLst>
                  <a:outerShdw blurRad="38100" dist="25400" dir="5400000" algn="ctr" rotWithShape="0">
                    <a:srgbClr val="6E747A">
                      <a:alpha val="43000"/>
                    </a:srgbClr>
                  </a:outerShdw>
                </a:effectLst>
              </a:rPr>
              <a:t>Character</a:t>
            </a:r>
            <a:endParaRPr lang="en-US" sz="3600" b="0" cap="none" spc="0" dirty="0">
              <a:ln w="0"/>
              <a:solidFill>
                <a:schemeClr val="accent1"/>
              </a:solidFill>
              <a:effectLst>
                <a:outerShdw blurRad="38100" dist="25400" dir="5400000" algn="ctr" rotWithShape="0">
                  <a:srgbClr val="6E747A">
                    <a:alpha val="43000"/>
                  </a:srgbClr>
                </a:outerShdw>
              </a:effectLst>
            </a:endParaRPr>
          </a:p>
        </p:txBody>
      </p:sp>
      <p:sp>
        <p:nvSpPr>
          <p:cNvPr id="11" name="TextBox 10">
            <a:extLst>
              <a:ext uri="{FF2B5EF4-FFF2-40B4-BE49-F238E27FC236}">
                <a16:creationId xmlns:a16="http://schemas.microsoft.com/office/drawing/2014/main" id="{CB929AD8-BF2D-5D8D-D04B-0696AB0389A7}"/>
              </a:ext>
            </a:extLst>
          </p:cNvPr>
          <p:cNvSpPr txBox="1"/>
          <p:nvPr/>
        </p:nvSpPr>
        <p:spPr>
          <a:xfrm>
            <a:off x="2325201" y="2745264"/>
            <a:ext cx="6033052" cy="1200329"/>
          </a:xfrm>
          <a:prstGeom prst="rect">
            <a:avLst/>
          </a:prstGeom>
          <a:noFill/>
        </p:spPr>
        <p:txBody>
          <a:bodyPr wrap="square" rtlCol="0">
            <a:spAutoFit/>
          </a:bodyPr>
          <a:lstStyle/>
          <a:p>
            <a:r>
              <a:rPr lang="en-US" dirty="0"/>
              <a:t>Size: 2 bytes (16 bits) of memory.</a:t>
            </a:r>
          </a:p>
          <a:p>
            <a:endParaRPr lang="en-US" dirty="0"/>
          </a:p>
          <a:p>
            <a:r>
              <a:rPr lang="en-US" dirty="0"/>
              <a:t>Stores The range is from '\u0000' (0) to '\</a:t>
            </a:r>
            <a:r>
              <a:rPr lang="en-US" dirty="0" err="1"/>
              <a:t>uffff</a:t>
            </a:r>
            <a:r>
              <a:rPr lang="en-US" dirty="0"/>
              <a:t>' (65,535), supporting all Unicode characters.</a:t>
            </a:r>
          </a:p>
        </p:txBody>
      </p:sp>
      <p:sp>
        <p:nvSpPr>
          <p:cNvPr id="12" name="TextBox 11">
            <a:extLst>
              <a:ext uri="{FF2B5EF4-FFF2-40B4-BE49-F238E27FC236}">
                <a16:creationId xmlns:a16="http://schemas.microsoft.com/office/drawing/2014/main" id="{D89F2BF2-FF20-D2BD-DF31-081D95FAA502}"/>
              </a:ext>
            </a:extLst>
          </p:cNvPr>
          <p:cNvSpPr txBox="1"/>
          <p:nvPr/>
        </p:nvSpPr>
        <p:spPr>
          <a:xfrm>
            <a:off x="1152383" y="4609451"/>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Syntax :</a:t>
            </a:r>
          </a:p>
          <a:p>
            <a:r>
              <a:rPr lang="en-IN" i="1" dirty="0">
                <a:solidFill>
                  <a:schemeClr val="bg2">
                    <a:lumMod val="60000"/>
                    <a:lumOff val="40000"/>
                  </a:schemeClr>
                </a:solidFill>
              </a:rPr>
              <a:t> </a:t>
            </a:r>
            <a:r>
              <a:rPr lang="en-IN" i="1" dirty="0">
                <a:solidFill>
                  <a:schemeClr val="accent5">
                    <a:lumMod val="75000"/>
                  </a:schemeClr>
                </a:solidFill>
              </a:rPr>
              <a:t>char</a:t>
            </a:r>
            <a:r>
              <a:rPr lang="en-IN" i="1" dirty="0">
                <a:solidFill>
                  <a:schemeClr val="bg2">
                    <a:lumMod val="60000"/>
                    <a:lumOff val="40000"/>
                  </a:schemeClr>
                </a:solidFill>
              </a:rPr>
              <a:t> </a:t>
            </a:r>
            <a:r>
              <a:rPr lang="en-IN" i="1" dirty="0" err="1">
                <a:solidFill>
                  <a:srgbClr val="FFFF00"/>
                </a:solidFill>
              </a:rPr>
              <a:t>variableName</a:t>
            </a:r>
            <a:r>
              <a:rPr lang="en-IN" i="1" dirty="0">
                <a:solidFill>
                  <a:schemeClr val="tx1">
                    <a:lumMod val="95000"/>
                  </a:schemeClr>
                </a:solidFill>
              </a:rPr>
              <a:t> </a:t>
            </a:r>
            <a:r>
              <a:rPr lang="en-IN" i="1" dirty="0">
                <a:solidFill>
                  <a:schemeClr val="tx1">
                    <a:lumMod val="85000"/>
                  </a:schemeClr>
                </a:solidFill>
              </a:rPr>
              <a:t>=</a:t>
            </a:r>
            <a:r>
              <a:rPr lang="en-IN" i="1" dirty="0">
                <a:solidFill>
                  <a:schemeClr val="bg2">
                    <a:lumMod val="60000"/>
                    <a:lumOff val="40000"/>
                  </a:schemeClr>
                </a:solidFill>
              </a:rPr>
              <a:t> ‘value’;</a:t>
            </a:r>
          </a:p>
        </p:txBody>
      </p:sp>
      <p:sp>
        <p:nvSpPr>
          <p:cNvPr id="13" name="TextBox 12">
            <a:extLst>
              <a:ext uri="{FF2B5EF4-FFF2-40B4-BE49-F238E27FC236}">
                <a16:creationId xmlns:a16="http://schemas.microsoft.com/office/drawing/2014/main" id="{B4A9996E-3D7D-7401-C3F6-57C33EAF8B66}"/>
              </a:ext>
            </a:extLst>
          </p:cNvPr>
          <p:cNvSpPr txBox="1"/>
          <p:nvPr/>
        </p:nvSpPr>
        <p:spPr>
          <a:xfrm>
            <a:off x="3198078" y="2131054"/>
            <a:ext cx="6177025" cy="461665"/>
          </a:xfrm>
          <a:prstGeom prst="rect">
            <a:avLst/>
          </a:prstGeom>
          <a:noFill/>
        </p:spPr>
        <p:txBody>
          <a:bodyPr wrap="square" rtlCol="0">
            <a:spAutoFit/>
          </a:bodyPr>
          <a:lstStyle/>
          <a:p>
            <a:r>
              <a:rPr lang="en-IN" sz="2400" i="1" dirty="0">
                <a:solidFill>
                  <a:srgbClr val="0070C0"/>
                </a:solidFill>
              </a:rPr>
              <a:t>Stores larger character value</a:t>
            </a:r>
          </a:p>
        </p:txBody>
      </p:sp>
      <p:sp>
        <p:nvSpPr>
          <p:cNvPr id="2" name="TextBox 1">
            <a:extLst>
              <a:ext uri="{FF2B5EF4-FFF2-40B4-BE49-F238E27FC236}">
                <a16:creationId xmlns:a16="http://schemas.microsoft.com/office/drawing/2014/main" id="{8B901D48-E394-3A03-DB72-454B6326A4C8}"/>
              </a:ext>
            </a:extLst>
          </p:cNvPr>
          <p:cNvSpPr txBox="1"/>
          <p:nvPr/>
        </p:nvSpPr>
        <p:spPr>
          <a:xfrm>
            <a:off x="2014727" y="5454386"/>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Example :</a:t>
            </a:r>
          </a:p>
          <a:p>
            <a:r>
              <a:rPr lang="en-IN" i="1" dirty="0">
                <a:solidFill>
                  <a:schemeClr val="bg2">
                    <a:lumMod val="60000"/>
                    <a:lumOff val="40000"/>
                  </a:schemeClr>
                </a:solidFill>
              </a:rPr>
              <a:t> </a:t>
            </a:r>
            <a:r>
              <a:rPr lang="en-IN" i="1" dirty="0">
                <a:solidFill>
                  <a:schemeClr val="accent5">
                    <a:lumMod val="75000"/>
                  </a:schemeClr>
                </a:solidFill>
              </a:rPr>
              <a:t>char</a:t>
            </a:r>
            <a:r>
              <a:rPr lang="en-IN" i="1" dirty="0">
                <a:solidFill>
                  <a:schemeClr val="bg2">
                    <a:lumMod val="60000"/>
                    <a:lumOff val="40000"/>
                  </a:schemeClr>
                </a:solidFill>
              </a:rPr>
              <a:t> </a:t>
            </a:r>
            <a:r>
              <a:rPr lang="en-IN" dirty="0">
                <a:solidFill>
                  <a:srgbClr val="FFFF00"/>
                </a:solidFill>
              </a:rPr>
              <a:t>pi</a:t>
            </a:r>
            <a:r>
              <a:rPr lang="en-IN" dirty="0"/>
              <a:t> = ‘</a:t>
            </a:r>
            <a:r>
              <a:rPr lang="en-IN" dirty="0">
                <a:solidFill>
                  <a:srgbClr val="00B0F0"/>
                </a:solidFill>
              </a:rPr>
              <a:t>3.14159’;</a:t>
            </a:r>
            <a:endParaRPr lang="en-IN" i="1" dirty="0">
              <a:solidFill>
                <a:srgbClr val="00B0F0"/>
              </a:solidFill>
            </a:endParaRPr>
          </a:p>
        </p:txBody>
      </p:sp>
    </p:spTree>
    <p:extLst>
      <p:ext uri="{BB962C8B-B14F-4D97-AF65-F5344CB8AC3E}">
        <p14:creationId xmlns:p14="http://schemas.microsoft.com/office/powerpoint/2010/main" val="281831909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anim calcmode="lin" valueType="num">
                                      <p:cBhvr>
                                        <p:cTn id="11" dur="1000" fill="hold"/>
                                        <p:tgtEl>
                                          <p:spTgt spid="11"/>
                                        </p:tgtEl>
                                        <p:attrNameLst>
                                          <p:attrName>ppt_x</p:attrName>
                                        </p:attrNameLst>
                                      </p:cBhvr>
                                      <p:tavLst>
                                        <p:tav tm="0">
                                          <p:val>
                                            <p:strVal val="#ppt_x"/>
                                          </p:val>
                                        </p:tav>
                                        <p:tav tm="100000">
                                          <p:val>
                                            <p:strVal val="#ppt_x"/>
                                          </p:val>
                                        </p:tav>
                                      </p:tavLst>
                                    </p:anim>
                                    <p:anim calcmode="lin" valueType="num">
                                      <p:cBhvr>
                                        <p:cTn id="12" dur="1000" fill="hold"/>
                                        <p:tgtEl>
                                          <p:spTgt spid="11"/>
                                        </p:tgtEl>
                                        <p:attrNameLst>
                                          <p:attrName>ppt_y</p:attrName>
                                        </p:attrNameLst>
                                      </p:cBhvr>
                                      <p:tavLst>
                                        <p:tav tm="0">
                                          <p:val>
                                            <p:strVal val="#ppt_y+.1"/>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arn(inVertical)">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animBg="1"/>
      <p:bldP spid="13" grpId="0"/>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011FE-7D2C-41E4-2217-B9D10CAA753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1AF7FFA-AE78-B04F-7FE3-5F1B4CB56195}"/>
              </a:ext>
            </a:extLst>
          </p:cNvPr>
          <p:cNvSpPr/>
          <p:nvPr/>
        </p:nvSpPr>
        <p:spPr>
          <a:xfrm>
            <a:off x="1230438" y="214196"/>
            <a:ext cx="6542177"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Primitive Data type</a:t>
            </a:r>
          </a:p>
        </p:txBody>
      </p:sp>
      <p:sp>
        <p:nvSpPr>
          <p:cNvPr id="5" name="TextBox 4">
            <a:extLst>
              <a:ext uri="{FF2B5EF4-FFF2-40B4-BE49-F238E27FC236}">
                <a16:creationId xmlns:a16="http://schemas.microsoft.com/office/drawing/2014/main" id="{8810B859-3DDA-4E63-EC68-E3F1F5D31D36}"/>
              </a:ext>
            </a:extLst>
          </p:cNvPr>
          <p:cNvSpPr txBox="1"/>
          <p:nvPr/>
        </p:nvSpPr>
        <p:spPr>
          <a:xfrm>
            <a:off x="1122239" y="1158701"/>
            <a:ext cx="7364895" cy="461665"/>
          </a:xfrm>
          <a:prstGeom prst="rect">
            <a:avLst/>
          </a:prstGeom>
          <a:noFill/>
        </p:spPr>
        <p:txBody>
          <a:bodyPr wrap="square" rtlCol="0">
            <a:spAutoFit/>
          </a:bodyPr>
          <a:lstStyle/>
          <a:p>
            <a:r>
              <a:rPr lang="en-US" sz="2400" dirty="0">
                <a:solidFill>
                  <a:srgbClr val="FFFF00"/>
                </a:solidFill>
              </a:rPr>
              <a:t>Character, Boolean,</a:t>
            </a:r>
          </a:p>
        </p:txBody>
      </p:sp>
      <p:sp>
        <p:nvSpPr>
          <p:cNvPr id="6" name="Rectangle 5">
            <a:extLst>
              <a:ext uri="{FF2B5EF4-FFF2-40B4-BE49-F238E27FC236}">
                <a16:creationId xmlns:a16="http://schemas.microsoft.com/office/drawing/2014/main" id="{5AF2508E-C027-B4A0-0290-8D56DF97ABFB}"/>
              </a:ext>
            </a:extLst>
          </p:cNvPr>
          <p:cNvSpPr/>
          <p:nvPr/>
        </p:nvSpPr>
        <p:spPr>
          <a:xfrm>
            <a:off x="412398" y="1895302"/>
            <a:ext cx="2906716" cy="646331"/>
          </a:xfrm>
          <a:prstGeom prst="rect">
            <a:avLst/>
          </a:prstGeom>
          <a:noFill/>
        </p:spPr>
        <p:txBody>
          <a:bodyPr wrap="square" lIns="91440" tIns="45720" rIns="91440" bIns="45720">
            <a:spAutoFit/>
          </a:bodyPr>
          <a:lstStyle/>
          <a:p>
            <a:pPr algn="ctr"/>
            <a:r>
              <a:rPr lang="en-US" sz="3600" dirty="0">
                <a:ln w="0"/>
                <a:solidFill>
                  <a:schemeClr val="accent1"/>
                </a:solidFill>
                <a:effectLst>
                  <a:outerShdw blurRad="38100" dist="25400" dir="5400000" algn="ctr" rotWithShape="0">
                    <a:srgbClr val="6E747A">
                      <a:alpha val="43000"/>
                    </a:srgbClr>
                  </a:outerShdw>
                </a:effectLst>
              </a:rPr>
              <a:t>Boolean</a:t>
            </a:r>
            <a:endParaRPr lang="en-US" sz="3600" b="0" cap="none" spc="0" dirty="0">
              <a:ln w="0"/>
              <a:solidFill>
                <a:schemeClr val="accent1"/>
              </a:solidFill>
              <a:effectLst>
                <a:outerShdw blurRad="38100" dist="25400" dir="5400000" algn="ctr" rotWithShape="0">
                  <a:srgbClr val="6E747A">
                    <a:alpha val="43000"/>
                  </a:srgbClr>
                </a:outerShdw>
              </a:effectLst>
            </a:endParaRPr>
          </a:p>
        </p:txBody>
      </p:sp>
      <p:sp>
        <p:nvSpPr>
          <p:cNvPr id="11" name="TextBox 10">
            <a:extLst>
              <a:ext uri="{FF2B5EF4-FFF2-40B4-BE49-F238E27FC236}">
                <a16:creationId xmlns:a16="http://schemas.microsoft.com/office/drawing/2014/main" id="{1F3AEA2A-66F5-5C0A-9E57-6E0F76FF58AE}"/>
              </a:ext>
            </a:extLst>
          </p:cNvPr>
          <p:cNvSpPr txBox="1"/>
          <p:nvPr/>
        </p:nvSpPr>
        <p:spPr>
          <a:xfrm>
            <a:off x="2325201" y="2745264"/>
            <a:ext cx="6033052" cy="1754326"/>
          </a:xfrm>
          <a:prstGeom prst="rect">
            <a:avLst/>
          </a:prstGeom>
          <a:noFill/>
        </p:spPr>
        <p:txBody>
          <a:bodyPr wrap="square" rtlCol="0">
            <a:spAutoFit/>
          </a:bodyPr>
          <a:lstStyle/>
          <a:p>
            <a:r>
              <a:rPr lang="en-US" dirty="0"/>
              <a:t>Size: Size: Java does not define its exact size, but it's usually 1 bit or 1 byte, depending on the JVM.</a:t>
            </a:r>
          </a:p>
          <a:p>
            <a:endParaRPr lang="en-US" dirty="0"/>
          </a:p>
          <a:p>
            <a:r>
              <a:rPr lang="en-US" dirty="0"/>
              <a:t>It represents simple yes/no or on/off conditions.</a:t>
            </a:r>
          </a:p>
          <a:p>
            <a:br>
              <a:rPr lang="en-US" dirty="0"/>
            </a:br>
            <a:r>
              <a:rPr lang="en-US" dirty="0"/>
              <a:t>.</a:t>
            </a:r>
          </a:p>
        </p:txBody>
      </p:sp>
      <p:sp>
        <p:nvSpPr>
          <p:cNvPr id="12" name="TextBox 11">
            <a:extLst>
              <a:ext uri="{FF2B5EF4-FFF2-40B4-BE49-F238E27FC236}">
                <a16:creationId xmlns:a16="http://schemas.microsoft.com/office/drawing/2014/main" id="{49565CD3-E327-3B56-AF81-6C228AECF3D0}"/>
              </a:ext>
            </a:extLst>
          </p:cNvPr>
          <p:cNvSpPr txBox="1"/>
          <p:nvPr/>
        </p:nvSpPr>
        <p:spPr>
          <a:xfrm>
            <a:off x="1152383" y="4609451"/>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Syntax :</a:t>
            </a:r>
          </a:p>
          <a:p>
            <a:r>
              <a:rPr lang="en-IN" i="1" dirty="0">
                <a:solidFill>
                  <a:schemeClr val="bg2">
                    <a:lumMod val="60000"/>
                    <a:lumOff val="40000"/>
                  </a:schemeClr>
                </a:solidFill>
              </a:rPr>
              <a:t> </a:t>
            </a:r>
            <a:r>
              <a:rPr lang="en-IN" i="1" dirty="0" err="1">
                <a:solidFill>
                  <a:schemeClr val="accent5">
                    <a:lumMod val="75000"/>
                  </a:schemeClr>
                </a:solidFill>
              </a:rPr>
              <a:t>boolean</a:t>
            </a:r>
            <a:r>
              <a:rPr lang="en-IN" i="1" dirty="0">
                <a:solidFill>
                  <a:schemeClr val="bg2">
                    <a:lumMod val="60000"/>
                    <a:lumOff val="40000"/>
                  </a:schemeClr>
                </a:solidFill>
              </a:rPr>
              <a:t> </a:t>
            </a:r>
            <a:r>
              <a:rPr lang="en-IN" i="1" dirty="0" err="1">
                <a:solidFill>
                  <a:srgbClr val="FFFF00"/>
                </a:solidFill>
              </a:rPr>
              <a:t>variableName</a:t>
            </a:r>
            <a:r>
              <a:rPr lang="en-IN" i="1" dirty="0">
                <a:solidFill>
                  <a:schemeClr val="tx1">
                    <a:lumMod val="95000"/>
                  </a:schemeClr>
                </a:solidFill>
              </a:rPr>
              <a:t> </a:t>
            </a:r>
            <a:r>
              <a:rPr lang="en-IN" i="1" dirty="0">
                <a:solidFill>
                  <a:schemeClr val="tx1">
                    <a:lumMod val="85000"/>
                  </a:schemeClr>
                </a:solidFill>
              </a:rPr>
              <a:t>=</a:t>
            </a:r>
            <a:r>
              <a:rPr lang="en-IN" i="1" dirty="0">
                <a:solidFill>
                  <a:schemeClr val="bg2">
                    <a:lumMod val="60000"/>
                    <a:lumOff val="40000"/>
                  </a:schemeClr>
                </a:solidFill>
              </a:rPr>
              <a:t> true/false;</a:t>
            </a:r>
          </a:p>
        </p:txBody>
      </p:sp>
      <p:sp>
        <p:nvSpPr>
          <p:cNvPr id="13" name="TextBox 12">
            <a:extLst>
              <a:ext uri="{FF2B5EF4-FFF2-40B4-BE49-F238E27FC236}">
                <a16:creationId xmlns:a16="http://schemas.microsoft.com/office/drawing/2014/main" id="{C1ACC9F8-F3F7-40B7-C6F9-DB6F5F945838}"/>
              </a:ext>
            </a:extLst>
          </p:cNvPr>
          <p:cNvSpPr txBox="1"/>
          <p:nvPr/>
        </p:nvSpPr>
        <p:spPr>
          <a:xfrm>
            <a:off x="3198078" y="2131054"/>
            <a:ext cx="6177025" cy="461665"/>
          </a:xfrm>
          <a:prstGeom prst="rect">
            <a:avLst/>
          </a:prstGeom>
          <a:noFill/>
        </p:spPr>
        <p:txBody>
          <a:bodyPr wrap="square" rtlCol="0">
            <a:spAutoFit/>
          </a:bodyPr>
          <a:lstStyle/>
          <a:p>
            <a:r>
              <a:rPr lang="en-IN" sz="2400" i="1" dirty="0">
                <a:solidFill>
                  <a:srgbClr val="0070C0"/>
                </a:solidFill>
              </a:rPr>
              <a:t>Stores True or false</a:t>
            </a:r>
          </a:p>
        </p:txBody>
      </p:sp>
      <p:sp>
        <p:nvSpPr>
          <p:cNvPr id="2" name="TextBox 1">
            <a:extLst>
              <a:ext uri="{FF2B5EF4-FFF2-40B4-BE49-F238E27FC236}">
                <a16:creationId xmlns:a16="http://schemas.microsoft.com/office/drawing/2014/main" id="{E193E334-2D6B-B063-543C-DB8F59001089}"/>
              </a:ext>
            </a:extLst>
          </p:cNvPr>
          <p:cNvSpPr txBox="1"/>
          <p:nvPr/>
        </p:nvSpPr>
        <p:spPr>
          <a:xfrm>
            <a:off x="2014727" y="5454386"/>
            <a:ext cx="5579918" cy="646331"/>
          </a:xfrm>
          <a:prstGeom prst="rect">
            <a:avLst/>
          </a:prstGeom>
          <a:solidFill>
            <a:schemeClr val="bg1">
              <a:lumMod val="85000"/>
              <a:lumOff val="15000"/>
            </a:schemeClr>
          </a:solidFill>
        </p:spPr>
        <p:txBody>
          <a:bodyPr wrap="square" rtlCol="0">
            <a:spAutoFit/>
          </a:bodyPr>
          <a:lstStyle/>
          <a:p>
            <a:r>
              <a:rPr lang="en-IN" i="1" dirty="0">
                <a:solidFill>
                  <a:schemeClr val="tx1">
                    <a:lumMod val="50000"/>
                  </a:schemeClr>
                </a:solidFill>
              </a:rPr>
              <a:t>Example :</a:t>
            </a:r>
          </a:p>
          <a:p>
            <a:r>
              <a:rPr lang="en-IN" i="1" dirty="0">
                <a:solidFill>
                  <a:schemeClr val="bg2">
                    <a:lumMod val="60000"/>
                    <a:lumOff val="40000"/>
                  </a:schemeClr>
                </a:solidFill>
              </a:rPr>
              <a:t> </a:t>
            </a:r>
            <a:r>
              <a:rPr lang="en-IN" i="1" dirty="0" err="1">
                <a:solidFill>
                  <a:schemeClr val="accent5">
                    <a:lumMod val="75000"/>
                  </a:schemeClr>
                </a:solidFill>
              </a:rPr>
              <a:t>boolean</a:t>
            </a:r>
            <a:r>
              <a:rPr lang="en-IN" i="1" dirty="0">
                <a:solidFill>
                  <a:schemeClr val="bg2">
                    <a:lumMod val="60000"/>
                    <a:lumOff val="40000"/>
                  </a:schemeClr>
                </a:solidFill>
              </a:rPr>
              <a:t> </a:t>
            </a:r>
            <a:r>
              <a:rPr lang="en-IN" dirty="0">
                <a:solidFill>
                  <a:srgbClr val="FFFF00"/>
                </a:solidFill>
              </a:rPr>
              <a:t>b</a:t>
            </a:r>
            <a:r>
              <a:rPr lang="en-IN" dirty="0"/>
              <a:t> = </a:t>
            </a:r>
            <a:r>
              <a:rPr lang="en-IN" dirty="0">
                <a:solidFill>
                  <a:srgbClr val="00B0F0"/>
                </a:solidFill>
              </a:rPr>
              <a:t>true;</a:t>
            </a:r>
            <a:endParaRPr lang="en-IN" i="1" dirty="0">
              <a:solidFill>
                <a:srgbClr val="00B0F0"/>
              </a:solidFill>
            </a:endParaRPr>
          </a:p>
        </p:txBody>
      </p:sp>
    </p:spTree>
    <p:extLst>
      <p:ext uri="{BB962C8B-B14F-4D97-AF65-F5344CB8AC3E}">
        <p14:creationId xmlns:p14="http://schemas.microsoft.com/office/powerpoint/2010/main" val="1774797696"/>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anim calcmode="lin" valueType="num">
                                      <p:cBhvr>
                                        <p:cTn id="11" dur="1000" fill="hold"/>
                                        <p:tgtEl>
                                          <p:spTgt spid="11"/>
                                        </p:tgtEl>
                                        <p:attrNameLst>
                                          <p:attrName>ppt_x</p:attrName>
                                        </p:attrNameLst>
                                      </p:cBhvr>
                                      <p:tavLst>
                                        <p:tav tm="0">
                                          <p:val>
                                            <p:strVal val="#ppt_x"/>
                                          </p:val>
                                        </p:tav>
                                        <p:tav tm="100000">
                                          <p:val>
                                            <p:strVal val="#ppt_x"/>
                                          </p:val>
                                        </p:tav>
                                      </p:tavLst>
                                    </p:anim>
                                    <p:anim calcmode="lin" valueType="num">
                                      <p:cBhvr>
                                        <p:cTn id="12" dur="1000" fill="hold"/>
                                        <p:tgtEl>
                                          <p:spTgt spid="11"/>
                                        </p:tgtEl>
                                        <p:attrNameLst>
                                          <p:attrName>ppt_y</p:attrName>
                                        </p:attrNameLst>
                                      </p:cBhvr>
                                      <p:tavLst>
                                        <p:tav tm="0">
                                          <p:val>
                                            <p:strVal val="#ppt_y+.1"/>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arn(inVertic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arn(inVertical)">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animBg="1"/>
      <p:bldP spid="13" grpId="0"/>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C15907B-40AE-2F12-8722-FCE830884FF0}"/>
              </a:ext>
            </a:extLst>
          </p:cNvPr>
          <p:cNvSpPr/>
          <p:nvPr/>
        </p:nvSpPr>
        <p:spPr>
          <a:xfrm>
            <a:off x="247742" y="0"/>
            <a:ext cx="8538941"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Non Primitive Data types : </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6" name="Ink 5">
                <a:extLst>
                  <a:ext uri="{FF2B5EF4-FFF2-40B4-BE49-F238E27FC236}">
                    <a16:creationId xmlns:a16="http://schemas.microsoft.com/office/drawing/2014/main" id="{8585D40A-95BB-ED3A-DEE8-72472945ACEB}"/>
                  </a:ext>
                </a:extLst>
              </p14:cNvPr>
              <p14:cNvContentPartPr/>
              <p14:nvPr/>
            </p14:nvContentPartPr>
            <p14:xfrm>
              <a:off x="8349704" y="3250407"/>
              <a:ext cx="360" cy="2160"/>
            </p14:xfrm>
          </p:contentPart>
        </mc:Choice>
        <mc:Fallback xmlns="">
          <p:pic>
            <p:nvPicPr>
              <p:cNvPr id="6" name="Ink 5">
                <a:extLst>
                  <a:ext uri="{FF2B5EF4-FFF2-40B4-BE49-F238E27FC236}">
                    <a16:creationId xmlns:a16="http://schemas.microsoft.com/office/drawing/2014/main" id="{8585D40A-95BB-ED3A-DEE8-72472945ACEB}"/>
                  </a:ext>
                </a:extLst>
              </p:cNvPr>
              <p:cNvPicPr/>
              <p:nvPr/>
            </p:nvPicPr>
            <p:blipFill>
              <a:blip r:embed="rId3"/>
              <a:stretch>
                <a:fillRect/>
              </a:stretch>
            </p:blipFill>
            <p:spPr>
              <a:xfrm>
                <a:off x="8340704" y="3241767"/>
                <a:ext cx="18000" cy="19800"/>
              </a:xfrm>
              <a:prstGeom prst="rect">
                <a:avLst/>
              </a:prstGeom>
            </p:spPr>
          </p:pic>
        </mc:Fallback>
      </mc:AlternateContent>
      <p:sp>
        <p:nvSpPr>
          <p:cNvPr id="10" name="TextBox 9">
            <a:extLst>
              <a:ext uri="{FF2B5EF4-FFF2-40B4-BE49-F238E27FC236}">
                <a16:creationId xmlns:a16="http://schemas.microsoft.com/office/drawing/2014/main" id="{33ED48D8-EA58-928B-E8DA-3141628EB9E0}"/>
              </a:ext>
            </a:extLst>
          </p:cNvPr>
          <p:cNvSpPr txBox="1"/>
          <p:nvPr/>
        </p:nvSpPr>
        <p:spPr>
          <a:xfrm>
            <a:off x="1547005" y="964366"/>
            <a:ext cx="8904741" cy="923330"/>
          </a:xfrm>
          <a:prstGeom prst="rect">
            <a:avLst/>
          </a:prstGeom>
          <a:noFill/>
        </p:spPr>
        <p:txBody>
          <a:bodyPr wrap="square" rtlCol="0">
            <a:spAutoFit/>
          </a:bodyPr>
          <a:lstStyle/>
          <a:p>
            <a:r>
              <a:rPr lang="en-IN" dirty="0">
                <a:solidFill>
                  <a:schemeClr val="accent1"/>
                </a:solidFill>
              </a:rPr>
              <a:t>Non primitive or user define data types in java are the data types which do not hold the actual value but the reference to the address of where the actual value is stored in the memory.</a:t>
            </a:r>
          </a:p>
        </p:txBody>
      </p:sp>
      <p:sp>
        <p:nvSpPr>
          <p:cNvPr id="11" name="TextBox 10">
            <a:extLst>
              <a:ext uri="{FF2B5EF4-FFF2-40B4-BE49-F238E27FC236}">
                <a16:creationId xmlns:a16="http://schemas.microsoft.com/office/drawing/2014/main" id="{1C159E7E-4325-9B30-0E8B-F9522861BC13}"/>
              </a:ext>
            </a:extLst>
          </p:cNvPr>
          <p:cNvSpPr txBox="1"/>
          <p:nvPr/>
        </p:nvSpPr>
        <p:spPr>
          <a:xfrm>
            <a:off x="482321" y="2371411"/>
            <a:ext cx="7063271" cy="4001095"/>
          </a:xfrm>
          <a:prstGeom prst="rect">
            <a:avLst/>
          </a:prstGeom>
          <a:noFill/>
        </p:spPr>
        <p:txBody>
          <a:bodyPr wrap="square" rtlCol="0">
            <a:spAutoFit/>
          </a:bodyPr>
          <a:lstStyle/>
          <a:p>
            <a:r>
              <a:rPr lang="en-US" sz="2000" dirty="0">
                <a:solidFill>
                  <a:schemeClr val="accent1">
                    <a:lumMod val="50000"/>
                  </a:schemeClr>
                </a:solidFill>
              </a:rPr>
              <a:t>String: </a:t>
            </a:r>
            <a:r>
              <a:rPr lang="en-US" dirty="0"/>
              <a:t>A sequence of characters used to store text.]</a:t>
            </a:r>
          </a:p>
          <a:p>
            <a:r>
              <a:rPr lang="en-US" sz="1600" dirty="0">
                <a:solidFill>
                  <a:schemeClr val="tx1">
                    <a:lumMod val="50000"/>
                  </a:schemeClr>
                </a:solidFill>
              </a:rPr>
              <a:t>Syntax :</a:t>
            </a:r>
            <a:r>
              <a:rPr lang="en-US" sz="1600" dirty="0"/>
              <a:t> </a:t>
            </a:r>
          </a:p>
          <a:p>
            <a:r>
              <a:rPr lang="en-US" sz="1600" dirty="0">
                <a:solidFill>
                  <a:srgbClr val="FF0000"/>
                </a:solidFill>
              </a:rPr>
              <a:t>String</a:t>
            </a:r>
            <a:r>
              <a:rPr lang="en-US" sz="1600" dirty="0">
                <a:solidFill>
                  <a:srgbClr val="FFFF00"/>
                </a:solidFill>
              </a:rPr>
              <a:t> </a:t>
            </a:r>
            <a:r>
              <a:rPr lang="en-US" sz="1600" dirty="0" err="1">
                <a:solidFill>
                  <a:srgbClr val="FFFF00"/>
                </a:solidFill>
              </a:rPr>
              <a:t>variableName</a:t>
            </a:r>
            <a:r>
              <a:rPr lang="en-US" sz="1600" dirty="0"/>
              <a:t> = </a:t>
            </a:r>
            <a:r>
              <a:rPr lang="en-US" sz="1600" dirty="0">
                <a:solidFill>
                  <a:schemeClr val="accent6">
                    <a:lumMod val="60000"/>
                    <a:lumOff val="40000"/>
                  </a:schemeClr>
                </a:solidFill>
              </a:rPr>
              <a:t>“value”;</a:t>
            </a:r>
          </a:p>
          <a:p>
            <a:endParaRPr lang="en-US" dirty="0"/>
          </a:p>
          <a:p>
            <a:r>
              <a:rPr lang="en-US" sz="2000" dirty="0">
                <a:solidFill>
                  <a:srgbClr val="FFC000"/>
                </a:solidFill>
              </a:rPr>
              <a:t>Array: </a:t>
            </a:r>
            <a:r>
              <a:rPr lang="en-US" dirty="0"/>
              <a:t>A collection of elements of the same type.</a:t>
            </a:r>
          </a:p>
          <a:p>
            <a:r>
              <a:rPr lang="en-US" dirty="0">
                <a:solidFill>
                  <a:schemeClr val="tx1">
                    <a:lumMod val="50000"/>
                  </a:schemeClr>
                </a:solidFill>
              </a:rPr>
              <a:t>Syntax :</a:t>
            </a:r>
            <a:r>
              <a:rPr lang="en-US" dirty="0"/>
              <a:t> </a:t>
            </a:r>
          </a:p>
          <a:p>
            <a:r>
              <a:rPr lang="en-US" dirty="0">
                <a:solidFill>
                  <a:srgbClr val="FF0000"/>
                </a:solidFill>
              </a:rPr>
              <a:t>datatype </a:t>
            </a:r>
            <a:r>
              <a:rPr lang="en-US" dirty="0" err="1">
                <a:solidFill>
                  <a:srgbClr val="FFFF00"/>
                </a:solidFill>
              </a:rPr>
              <a:t>variableName</a:t>
            </a:r>
            <a:r>
              <a:rPr lang="en-US" dirty="0">
                <a:solidFill>
                  <a:srgbClr val="FFFF00"/>
                </a:solidFill>
              </a:rPr>
              <a:t> [size] </a:t>
            </a:r>
            <a:r>
              <a:rPr lang="en-US" dirty="0"/>
              <a:t>=</a:t>
            </a:r>
            <a:r>
              <a:rPr lang="en-US" dirty="0">
                <a:solidFill>
                  <a:schemeClr val="bg2">
                    <a:lumMod val="75000"/>
                  </a:schemeClr>
                </a:solidFill>
              </a:rPr>
              <a:t> {val1, val2,… </a:t>
            </a:r>
            <a:r>
              <a:rPr lang="en-US" dirty="0" err="1">
                <a:solidFill>
                  <a:schemeClr val="bg2">
                    <a:lumMod val="75000"/>
                  </a:schemeClr>
                </a:solidFill>
              </a:rPr>
              <a:t>valn</a:t>
            </a:r>
            <a:r>
              <a:rPr lang="en-US" dirty="0">
                <a:solidFill>
                  <a:schemeClr val="bg2">
                    <a:lumMod val="75000"/>
                  </a:schemeClr>
                </a:solidFill>
              </a:rPr>
              <a:t>}; </a:t>
            </a:r>
          </a:p>
          <a:p>
            <a:endParaRPr lang="en-US" dirty="0"/>
          </a:p>
          <a:p>
            <a:r>
              <a:rPr lang="en-US" sz="2000" dirty="0">
                <a:solidFill>
                  <a:srgbClr val="FF0000"/>
                </a:solidFill>
              </a:rPr>
              <a:t>Class:</a:t>
            </a:r>
            <a:r>
              <a:rPr lang="en-US" dirty="0"/>
              <a:t> A user-defined blueprint for creating </a:t>
            </a:r>
            <a:r>
              <a:rPr lang="en-US" dirty="0">
                <a:solidFill>
                  <a:srgbClr val="FFC000"/>
                </a:solidFill>
              </a:rPr>
              <a:t>objects</a:t>
            </a:r>
            <a:r>
              <a:rPr lang="en-US" dirty="0"/>
              <a:t> with properties and behaviors.</a:t>
            </a:r>
          </a:p>
          <a:p>
            <a:r>
              <a:rPr lang="en-US" dirty="0">
                <a:solidFill>
                  <a:schemeClr val="tx1">
                    <a:lumMod val="50000"/>
                  </a:schemeClr>
                </a:solidFill>
              </a:rPr>
              <a:t>Syntax :</a:t>
            </a:r>
          </a:p>
          <a:p>
            <a:r>
              <a:rPr lang="en-US" dirty="0" err="1">
                <a:solidFill>
                  <a:srgbClr val="FF0000"/>
                </a:solidFill>
              </a:rPr>
              <a:t>ClassName</a:t>
            </a:r>
            <a:r>
              <a:rPr lang="en-US" dirty="0">
                <a:solidFill>
                  <a:srgbClr val="FF0000"/>
                </a:solidFill>
              </a:rPr>
              <a:t> </a:t>
            </a:r>
            <a:r>
              <a:rPr lang="en-US" dirty="0" err="1">
                <a:solidFill>
                  <a:srgbClr val="FFFF00"/>
                </a:solidFill>
              </a:rPr>
              <a:t>varibleName</a:t>
            </a:r>
            <a:r>
              <a:rPr lang="en-US" dirty="0">
                <a:solidFill>
                  <a:srgbClr val="FFFF00"/>
                </a:solidFill>
              </a:rPr>
              <a:t> = </a:t>
            </a:r>
            <a:r>
              <a:rPr lang="en-US" dirty="0">
                <a:solidFill>
                  <a:schemeClr val="accent1">
                    <a:lumMod val="75000"/>
                  </a:schemeClr>
                </a:solidFill>
              </a:rPr>
              <a:t>new </a:t>
            </a:r>
            <a:r>
              <a:rPr lang="en-US" dirty="0" err="1">
                <a:solidFill>
                  <a:srgbClr val="FF0000"/>
                </a:solidFill>
              </a:rPr>
              <a:t>ClassName</a:t>
            </a:r>
            <a:r>
              <a:rPr lang="en-US" dirty="0">
                <a:solidFill>
                  <a:schemeClr val="accent1">
                    <a:lumMod val="75000"/>
                  </a:schemeClr>
                </a:solidFill>
              </a:rPr>
              <a:t>;</a:t>
            </a:r>
          </a:p>
          <a:p>
            <a:endParaRPr lang="en-US" dirty="0"/>
          </a:p>
          <a:p>
            <a:endParaRPr lang="en-IN" dirty="0"/>
          </a:p>
        </p:txBody>
      </p:sp>
    </p:spTree>
    <p:extLst>
      <p:ext uri="{BB962C8B-B14F-4D97-AF65-F5344CB8AC3E}">
        <p14:creationId xmlns:p14="http://schemas.microsoft.com/office/powerpoint/2010/main" val="341863514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9F6279-C9AD-F032-8690-8A2102C21EBC}"/>
              </a:ext>
            </a:extLst>
          </p:cNvPr>
          <p:cNvSpPr/>
          <p:nvPr/>
        </p:nvSpPr>
        <p:spPr>
          <a:xfrm>
            <a:off x="2775630" y="1257803"/>
            <a:ext cx="6640739" cy="1323439"/>
          </a:xfrm>
          <a:prstGeom prst="rect">
            <a:avLst/>
          </a:prstGeom>
          <a:noFill/>
        </p:spPr>
        <p:txBody>
          <a:bodyPr wrap="square" lIns="91440" tIns="45720" rIns="91440" bIns="45720">
            <a:spAutoFit/>
          </a:bodyPr>
          <a:lstStyle/>
          <a:p>
            <a:pPr algn="ctr"/>
            <a:r>
              <a:rPr lang="en-US" sz="8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p>
        </p:txBody>
      </p:sp>
      <p:sp>
        <p:nvSpPr>
          <p:cNvPr id="5" name="Rectangle 4">
            <a:extLst>
              <a:ext uri="{FF2B5EF4-FFF2-40B4-BE49-F238E27FC236}">
                <a16:creationId xmlns:a16="http://schemas.microsoft.com/office/drawing/2014/main" id="{653E6E57-532D-44CC-CAE2-F5E585A57830}"/>
              </a:ext>
            </a:extLst>
          </p:cNvPr>
          <p:cNvSpPr/>
          <p:nvPr/>
        </p:nvSpPr>
        <p:spPr>
          <a:xfrm>
            <a:off x="4407877" y="2581242"/>
            <a:ext cx="3376244" cy="769441"/>
          </a:xfrm>
          <a:prstGeom prst="rect">
            <a:avLst/>
          </a:prstGeom>
          <a:noFill/>
        </p:spPr>
        <p:txBody>
          <a:bodyPr wrap="none" lIns="91440" tIns="45720" rIns="91440" bIns="45720">
            <a:spAutoFit/>
          </a:bodyPr>
          <a:lstStyle/>
          <a:p>
            <a:pPr algn="ctr"/>
            <a:r>
              <a:rPr lang="en-US" sz="4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Tech squad</a:t>
            </a:r>
          </a:p>
        </p:txBody>
      </p:sp>
    </p:spTree>
    <p:extLst>
      <p:ext uri="{BB962C8B-B14F-4D97-AF65-F5344CB8AC3E}">
        <p14:creationId xmlns:p14="http://schemas.microsoft.com/office/powerpoint/2010/main" val="2187636978"/>
      </p:ext>
    </p:extLst>
  </p:cSld>
  <p:clrMapOvr>
    <a:masterClrMapping/>
  </p:clrMapOvr>
  <mc:AlternateContent xmlns:mc="http://schemas.openxmlformats.org/markup-compatibility/2006" xmlns:p14="http://schemas.microsoft.com/office/powerpoint/2010/main">
    <mc:Choice Requires="p14">
      <p:transition spd="slow" p14:dur="1750">
        <p:split orient="vert"/>
      </p:transition>
    </mc:Choice>
    <mc:Fallback xmlns="">
      <p:transition spd="slow">
        <p:split orient="vert"/>
      </p:transition>
    </mc:Fallback>
  </mc:AlternateContent>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136</TotalTime>
  <Words>701</Words>
  <Application>Microsoft Office PowerPoint</Application>
  <PresentationFormat>Widescreen</PresentationFormat>
  <Paragraphs>120</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Century Gothic</vt:lpstr>
      <vt:lpstr>Wingdings 3</vt:lpstr>
      <vt:lpstr>Slice</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Suryansh Pushpkar</dc:creator>
  <cp:lastModifiedBy>Suryansh Pushpkar</cp:lastModifiedBy>
  <cp:revision>3</cp:revision>
  <dcterms:created xsi:type="dcterms:W3CDTF">2025-07-25T12:55:32Z</dcterms:created>
  <dcterms:modified xsi:type="dcterms:W3CDTF">2025-07-26T04:36:48Z</dcterms:modified>
</cp:coreProperties>
</file>